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783080"/>
            <a:ext cx="100584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600" b="1" i="0">
                <a:solidFill>
                  <a:srgbClr val="0B0B0B"/>
                </a:solidFill>
                <a:latin typeface="Microsoft YaHei"/>
                <a:ea typeface="Microsoft YaHei"/>
                <a:cs typeface="Microsoft YaHei"/>
              </a:rPr>
              <a:t>1880 China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2A78D6"/>
                </a:solidFill>
                <a:latin typeface="Microsoft YaHei"/>
                <a:ea typeface="Microsoft YaHei"/>
                <a:cs typeface="Microsoft YaHei"/>
              </a:rPr>
              <a:t>深度分析（341 局）· v1.2</a:t>
            </a:r>
          </a:p>
        </p:txBody>
      </p:sp>
      <p:sp>
        <p:nvSpPr>
          <p:cNvPr id="5" name="Rectangle 4"/>
          <p:cNvSpPr/>
          <p:nvPr/>
        </p:nvSpPr>
        <p:spPr>
          <a:xfrm>
            <a:off x="1097280" y="3529584"/>
            <a:ext cx="1463040" cy="548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3785615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52514E"/>
                </a:solidFill>
                <a:latin typeface="Microsoft YaHei"/>
                <a:ea typeface="Microsoft YaHei"/>
                <a:cs typeface="Microsoft YaHei"/>
              </a:rPr>
              <a:t>对局数据 341 局 / 1484 玩家场次 / 517 名玩家 ｜ 逐人净资产对账 1564/1564 = 100.00%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2514E"/>
                </a:solidFill>
                <a:latin typeface="Microsoft YaHei"/>
                <a:ea typeface="Microsoft YaHei"/>
                <a:cs typeface="Microsoft YaHei"/>
              </a:rPr>
              <a:t>规则依据：Lookout GmbH 2022 英文规则书（24 页），逐条核对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5175504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52514E"/>
                </a:solidFill>
                <a:latin typeface="Microsoft YaHei"/>
                <a:ea typeface="Microsoft YaHei"/>
                <a:cs typeface="Microsoft YaHei"/>
              </a:rPr>
              <a:t>分析人：Pig9013 ｜ 使用模型：Deepseek-flash ｜ 整理日期：2026-09-22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0B0B0B"/>
                </a:solidFill>
                <a:latin typeface="Microsoft YaHei"/>
                <a:ea typeface="Microsoft YaHei"/>
                <a:cs typeface="Microsoft YaHei"/>
              </a:rPr>
              <a:t>致谢：全部对局数据来自 18xx.games 及在该网站上游玩的玩家们——是他们无偿公开的游玩记录，造就了这些分析。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A78D6"/>
                </a:solidFill>
                <a:latin typeface="Microsoft YaHei"/>
                <a:ea typeface="Microsoft YaHei"/>
                <a:cs typeface="Microsoft YaHei"/>
              </a:rPr>
              <a:t>目录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03504"/>
            <a:ext cx="11057839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B0B0B"/>
                </a:solidFill>
                <a:latin typeface="Microsoft YaHei"/>
                <a:ea typeface="Microsoft YaHei"/>
                <a:cs typeface="Microsoft YaHei"/>
              </a:rPr>
              <a:t>十个章节，一条主线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33856"/>
            <a:ext cx="841248" cy="5029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43584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2514E"/>
                </a:solidFill>
                <a:latin typeface="Microsoft YaHei"/>
                <a:ea typeface="Microsoft YaHei"/>
                <a:cs typeface="Microsoft YaHei"/>
              </a:rPr>
              <a:t>从「拍卖怎么出价」到「最后三轮怎么活」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1627632"/>
          <a:ext cx="11057838" cy="415137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718041"/>
                <a:gridCol w="2441341"/>
                <a:gridCol w="7898456"/>
              </a:tblGrid>
              <a:tr h="310896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章</a:t>
                      </a:r>
                    </a:p>
                  </a:txBody>
                  <a:tcPr marL="64008" marR="64008" marT="13716" marB="13716" anchor="ctr">
                    <a:solidFill>
                      <a:srgbClr val="0B0B0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标题</a:t>
                      </a:r>
                    </a:p>
                  </a:txBody>
                  <a:tcPr marL="64008" marR="64008" marT="13716" marB="13716" anchor="ctr">
                    <a:solidFill>
                      <a:srgbClr val="0B0B0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核心内容</a:t>
                      </a:r>
                    </a:p>
                  </a:txBody>
                  <a:tcPr marL="64008" marR="64008" marT="13716" marB="13716" anchor="ctr">
                    <a:solidFill>
                      <a:srgbClr val="0B0B0B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50" b="1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〇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数据与对账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100% 对账、13 条日志陷阱、基线数字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50" b="1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一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玩家层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前二制 RR + BT、top/mid/bot 三档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50" b="1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二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机制与差异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建筑许可、与 1830／1846／1862 的九项差异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50" b="1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三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顺位与私营公司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竞拍价 = 成交价−面值；首口价；私营搭配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50" b="1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四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外国投资者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拍完再选、顺位链条、投资者×公司矩阵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50" b="1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五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主要公司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SR1 抢 HKR；董事长家数 ≈ 结局；交接 138 次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50" b="1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六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资金流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现金曲线、分红 vs 留存、垫资与个人贷款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50" b="1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七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时代与危机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公司-回合归一、车流日历、换车、车站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50" b="1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八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TOP 打法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三层对照、三个可复制特征、胜率最高打法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50" b="1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九/十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速查与方法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上桌清单 + 六条局限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6928" y="6428232"/>
            <a:ext cx="663470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98781"/>
                </a:solidFill>
                <a:latin typeface="Microsoft YaHei"/>
                <a:ea typeface="Microsoft YaHei"/>
                <a:cs typeface="Microsoft YaHei"/>
              </a:rPr>
              <a:t>数据：18xx.games ｜ 分析：Pig9013 ｜ 模型：Deepseek-flash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01631" y="6428232"/>
            <a:ext cx="4423135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98781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34440" y="2103120"/>
            <a:ext cx="100584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400" b="1" i="0">
                <a:solidFill>
                  <a:srgbClr val="2A78D6"/>
                </a:solidFill>
                <a:latin typeface="Microsoft YaHei"/>
                <a:ea typeface="Microsoft YaHei"/>
                <a:cs typeface="Microsoft YaHei"/>
              </a:rPr>
              <a:t>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310896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0B0B0B"/>
                </a:solidFill>
                <a:latin typeface="Microsoft YaHei"/>
                <a:ea typeface="Microsoft YaHei"/>
                <a:cs typeface="Microsoft YaHei"/>
              </a:rPr>
              <a:t>数据与对账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3913632"/>
            <a:ext cx="9144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52514E"/>
                </a:solidFill>
                <a:latin typeface="Microsoft YaHei"/>
                <a:ea typeface="Microsoft YaHei"/>
                <a:cs typeface="Microsoft YaHei"/>
              </a:rPr>
              <a:t>先把账算平，再谈策略——1564 个人次，一分不差。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28232"/>
            <a:ext cx="663470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98781"/>
                </a:solidFill>
                <a:latin typeface="Microsoft YaHei"/>
                <a:ea typeface="Microsoft YaHei"/>
                <a:cs typeface="Microsoft YaHei"/>
              </a:rPr>
              <a:t>数据：18xx.games ｜ 分析：Pig9013 ｜ 模型：Deepseek-flash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01631" y="6428232"/>
            <a:ext cx="4423135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98781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A78D6"/>
                </a:solidFill>
                <a:latin typeface="Microsoft YaHei"/>
                <a:ea typeface="Microsoft YaHei"/>
                <a:cs typeface="Microsoft YaHei"/>
              </a:rPr>
              <a:t>00 数据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03504"/>
            <a:ext cx="11057839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B0B0B"/>
                </a:solidFill>
                <a:latin typeface="Microsoft YaHei"/>
                <a:ea typeface="Microsoft YaHei"/>
                <a:cs typeface="Microsoft YaHei"/>
              </a:rPr>
              <a:t>数据基础：6 个源文件 → 341 局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33856"/>
            <a:ext cx="841248" cy="5029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43584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2514E"/>
                </a:solidFill>
                <a:latin typeface="Microsoft YaHei"/>
                <a:ea typeface="Microsoft YaHei"/>
                <a:cs typeface="Microsoft YaHei"/>
              </a:rPr>
              <a:t>切出 384 局 → 内容 sha1 去重 → 358 局 → 剔除 17 局手动结束 = 341 局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700784"/>
            <a:ext cx="2613583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1700784"/>
            <a:ext cx="2613583" cy="5029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1920240"/>
            <a:ext cx="2247823" cy="10881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400" b="1" i="0">
                <a:solidFill>
                  <a:srgbClr val="0B0B0B"/>
                </a:solidFill>
                <a:latin typeface="Microsoft YaHei"/>
                <a:ea typeface="Microsoft YaHei"/>
                <a:cs typeface="Microsoft YaHei"/>
              </a:rPr>
              <a:t>341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2514E"/>
                </a:solidFill>
                <a:latin typeface="Microsoft YaHei"/>
                <a:ea typeface="Microsoft YaHei"/>
                <a:cs typeface="Microsoft YaHei"/>
              </a:rPr>
              <a:t>局（主统计）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898781"/>
                </a:solidFill>
                <a:latin typeface="Microsoft YaHei"/>
                <a:ea typeface="Microsoft YaHei"/>
                <a:cs typeface="Microsoft YaHei"/>
              </a:rPr>
              <a:t>3人55｜4人160｜5人94｜6人15｜7人17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81679" y="1700784"/>
            <a:ext cx="2613583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381679" y="1700784"/>
            <a:ext cx="2613583" cy="5029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64559" y="1920240"/>
            <a:ext cx="2247823" cy="10881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400" b="1" i="0">
                <a:solidFill>
                  <a:srgbClr val="0B0B0B"/>
                </a:solidFill>
                <a:latin typeface="Microsoft YaHei"/>
                <a:ea typeface="Microsoft YaHei"/>
                <a:cs typeface="Microsoft YaHei"/>
              </a:rPr>
              <a:t>1484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2514E"/>
                </a:solidFill>
                <a:latin typeface="Microsoft YaHei"/>
                <a:ea typeface="Microsoft YaHei"/>
                <a:cs typeface="Microsoft YaHei"/>
              </a:rPr>
              <a:t>玩家场次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898781"/>
                </a:solidFill>
                <a:latin typeface="Microsoft YaHei"/>
                <a:ea typeface="Microsoft YaHei"/>
                <a:cs typeface="Microsoft YaHei"/>
              </a:rPr>
              <a:t>517 名玩家，其中 n≥8 局者 36 名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96431" y="1700784"/>
            <a:ext cx="2613583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96431" y="1700784"/>
            <a:ext cx="2613583" cy="5029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79311" y="1920240"/>
            <a:ext cx="2247823" cy="10881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400" b="1" i="0">
                <a:solidFill>
                  <a:srgbClr val="0B0B0B"/>
                </a:solidFill>
                <a:latin typeface="Microsoft YaHei"/>
                <a:ea typeface="Microsoft YaHei"/>
                <a:cs typeface="Microsoft YaHei"/>
              </a:rPr>
              <a:t>100.0%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2514E"/>
                </a:solidFill>
                <a:latin typeface="Microsoft YaHei"/>
                <a:ea typeface="Microsoft YaHei"/>
                <a:cs typeface="Microsoft YaHei"/>
              </a:rPr>
              <a:t>对账吻合率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898781"/>
                </a:solidFill>
                <a:latin typeface="Microsoft YaHei"/>
                <a:ea typeface="Microsoft YaHei"/>
                <a:cs typeface="Microsoft YaHei"/>
              </a:rPr>
              <a:t>1564/1564，残差 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011183" y="1700784"/>
            <a:ext cx="2613583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011183" y="1700784"/>
            <a:ext cx="2613583" cy="5029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94063" y="1920240"/>
            <a:ext cx="2247823" cy="10881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400" b="1" i="0">
                <a:solidFill>
                  <a:srgbClr val="0B0B0B"/>
                </a:solidFill>
                <a:latin typeface="Microsoft YaHei"/>
                <a:ea typeface="Microsoft YaHei"/>
                <a:cs typeface="Microsoft YaHei"/>
              </a:rPr>
              <a:t>10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2514E"/>
                </a:solidFill>
                <a:latin typeface="Microsoft YaHei"/>
                <a:ea typeface="Microsoft YaHei"/>
                <a:cs typeface="Microsoft YaHei"/>
              </a:rPr>
              <a:t>OR（恒定）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898781"/>
                </a:solidFill>
                <a:latin typeface="Microsoft YaHei"/>
                <a:ea typeface="Microsoft YaHei"/>
                <a:cs typeface="Microsoft YaHei"/>
              </a:rPr>
              <a:t>100% 打到 D2/D3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3557015"/>
            <a:ext cx="41148" cy="74980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9808" y="3529584"/>
            <a:ext cx="10874959" cy="804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0B0B0B"/>
                </a:solidFill>
                <a:latin typeface="Microsoft YaHei"/>
                <a:ea typeface="Microsoft YaHei"/>
                <a:cs typeface="Microsoft YaHei"/>
              </a:rPr>
              <a:t>本作没有随机属性——公司强弱结论可以跨局套用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52514E"/>
                </a:solidFill>
                <a:latin typeface="Microsoft YaHei"/>
                <a:ea typeface="Microsoft YaHei"/>
                <a:cs typeface="Microsoft YaHei"/>
              </a:rPr>
              <a:t>私营公司能力固定、投资者母基地固定、14 家公司的母基地/颜色固定（与 1862 的随机许可完全相反）。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52514E"/>
                </a:solidFill>
                <a:latin typeface="Microsoft YaHei"/>
                <a:ea typeface="Microsoft YaHei"/>
                <a:cs typeface="Microsoft YaHei"/>
              </a:rPr>
              <a:t>唯一的随机是座次：抽 0–6 号卡决定临时顺序。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4526280"/>
            <a:ext cx="41148" cy="74980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4498848"/>
            <a:ext cx="10874959" cy="804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0B0B0B"/>
                </a:solidFill>
                <a:latin typeface="Microsoft YaHei"/>
                <a:ea typeface="Microsoft YaHei"/>
                <a:cs typeface="Microsoft YaHei"/>
              </a:rPr>
              <a:t>对账口径（逐人）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52514E"/>
                </a:solidFill>
                <a:latin typeface="Microsoft YaHei"/>
                <a:ea typeface="Microsoft YaHei"/>
                <a:cs typeface="Microsoft YaHei"/>
              </a:rPr>
              <a:t>现金 = 起始资金 − 拍卖 + 私营收入 + 股息 + ¥50 连接奖励 + 贷款 − 买股 + 卖股 − 垫资；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52514E"/>
                </a:solidFill>
                <a:latin typeface="Microsoft YaHei"/>
                <a:ea typeface="Microsoft YaHei"/>
                <a:cs typeface="Microsoft YaHei"/>
              </a:rPr>
              <a:t>净资产 = 现金 + Σ(持股%×终局股价)÷10 − 债务（含 50% 利息）。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28232"/>
            <a:ext cx="663470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98781"/>
                </a:solidFill>
                <a:latin typeface="Microsoft YaHei"/>
                <a:ea typeface="Microsoft YaHei"/>
                <a:cs typeface="Microsoft YaHei"/>
              </a:rPr>
              <a:t>数据：18xx.games ｜ 分析：Pig9013 ｜ 模型：Deepseek-flash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01631" y="6428232"/>
            <a:ext cx="4423135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98781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A78D6"/>
                </a:solidFill>
                <a:latin typeface="Microsoft YaHei"/>
                <a:ea typeface="Microsoft YaHei"/>
                <a:cs typeface="Microsoft YaHei"/>
              </a:rPr>
              <a:t>00 数据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03504"/>
            <a:ext cx="11057839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B0B0B"/>
                </a:solidFill>
                <a:latin typeface="Microsoft YaHei"/>
                <a:ea typeface="Microsoft YaHei"/>
                <a:cs typeface="Microsoft YaHei"/>
              </a:rPr>
              <a:t>13 条日志句式陷阱（全部踩过）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33856"/>
            <a:ext cx="841248" cy="5029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43584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2514E"/>
                </a:solidFill>
                <a:latin typeface="Microsoft YaHei"/>
                <a:ea typeface="Microsoft YaHei"/>
                <a:cs typeface="Microsoft YaHei"/>
              </a:rPr>
              <a:t>解析器是把账算平的前提；下面是最容易出错的六条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1645920"/>
          <a:ext cx="11057838" cy="250545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4914595"/>
                <a:gridCol w="6143243"/>
              </a:tblGrid>
              <a:tr h="310896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陷阱</a:t>
                      </a:r>
                    </a:p>
                  </a:txBody>
                  <a:tcPr marL="64008" marR="64008" marT="13716" marB="13716" anchor="ctr">
                    <a:solidFill>
                      <a:srgbClr val="0B0B0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后果</a:t>
                      </a:r>
                    </a:p>
                  </a:txBody>
                  <a:tcPr marL="64008" marR="64008" marT="13716" marB="13716" anchor="ctr">
                    <a:solidFill>
                      <a:srgbClr val="0B0B0B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50" b="1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玩家名含标点（Andrew R. / tomdidiot (GMT)）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正则 \b 边界失效 → 整人行动丢失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50" b="1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股息收款人带尾随空格且含括号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不能按 [^,)] 切 → 单人残差 −5707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50" b="1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结算单允许负净资产（¥-31）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正则漏负号 → 该玩家整局被丢弃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50" b="1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P6 → BCR 董事证书走 receives a 20% share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不写金额；本人持 P6 时根本不发生资金流动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50" b="1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Five shares … have been bought. 是无主体独立行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公司第二批资本漏记 → 垫资虚增 31 次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50" b="1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已结束拍卖上仍有幽灵出价（2 局）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同一家私营被切成两个拍卖块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566928" y="4224528"/>
            <a:ext cx="11057839" cy="658368"/>
          </a:xfrm>
          <a:prstGeom prst="rect">
            <a:avLst/>
          </a:prstGeom>
          <a:solidFill>
            <a:srgbClr val="F2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4224528"/>
            <a:ext cx="50292" cy="65836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4224528"/>
            <a:ext cx="10618927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78D6"/>
                </a:solidFill>
                <a:latin typeface="Microsoft YaHei"/>
                <a:ea typeface="Microsoft YaHei"/>
                <a:cs typeface="Microsoft YaHei"/>
              </a:rPr>
              <a:t>结果：</a:t>
            </a:r>
            <a:r>
              <a:rPr sz="1350" b="0" i="0">
                <a:solidFill>
                  <a:srgbClr val="0B0B0B"/>
                </a:solidFill>
                <a:latin typeface="Microsoft YaHei"/>
                <a:ea typeface="Microsoft YaHei"/>
                <a:cs typeface="Microsoft YaHei"/>
              </a:rPr>
              <a:t>修完之后：358/358 局全部跑通，1564 个玩家场次的净资产与官方结算逐人吻合。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5029200"/>
            <a:ext cx="11057839" cy="658368"/>
          </a:xfrm>
          <a:prstGeom prst="rect">
            <a:avLst/>
          </a:prstGeom>
          <a:solidFill>
            <a:srgbClr val="F2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5029200"/>
            <a:ext cx="50292" cy="658368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6384" y="5029200"/>
            <a:ext cx="10618927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EB6834"/>
                </a:solidFill>
                <a:latin typeface="Microsoft YaHei"/>
                <a:ea typeface="Microsoft YaHei"/>
                <a:cs typeface="Microsoft YaHei"/>
              </a:rPr>
              <a:t>重要：</a:t>
            </a:r>
            <a:r>
              <a:rPr sz="1350" b="0" i="0">
                <a:solidFill>
                  <a:srgbClr val="0B0B0B"/>
                </a:solidFill>
                <a:latin typeface="Microsoft YaHei"/>
                <a:ea typeface="Microsoft YaHei"/>
                <a:cs typeface="Microsoft YaHei"/>
              </a:rPr>
              <a:t>本作无破产机制（玩家永不破产），所以「危机」不是出局，而是被强制垫资——这是第七、八章的主线。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428232"/>
            <a:ext cx="663470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98781"/>
                </a:solidFill>
                <a:latin typeface="Microsoft YaHei"/>
                <a:ea typeface="Microsoft YaHei"/>
                <a:cs typeface="Microsoft YaHei"/>
              </a:rPr>
              <a:t>数据：18xx.games ｜ 分析：Pig9013 ｜ 模型：Deepseek-flash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01631" y="6428232"/>
            <a:ext cx="4423135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98781"/>
                </a:solidFill>
                <a:latin typeface="Microsoft YaHei"/>
                <a:ea typeface="Microsoft YaHei"/>
                <a:cs typeface="Microsoft YaHe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A78D6"/>
                </a:solidFill>
                <a:latin typeface="Microsoft YaHei"/>
                <a:ea typeface="Microsoft YaHei"/>
                <a:cs typeface="Microsoft YaHei"/>
              </a:rPr>
              <a:t>00 数据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03504"/>
            <a:ext cx="11057839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B0B0B"/>
                </a:solidFill>
                <a:latin typeface="Microsoft YaHei"/>
                <a:ea typeface="Microsoft YaHei"/>
                <a:cs typeface="Microsoft YaHei"/>
              </a:rPr>
              <a:t>全文基线（后面每一页都拿它对表）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33856"/>
            <a:ext cx="841248" cy="5029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645920"/>
            <a:ext cx="2613583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645920"/>
            <a:ext cx="2613583" cy="5029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1865376"/>
            <a:ext cx="2247823" cy="10881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400" b="1" i="0">
                <a:solidFill>
                  <a:srgbClr val="0B0B0B"/>
                </a:solidFill>
                <a:latin typeface="Microsoft YaHei"/>
                <a:ea typeface="Microsoft YaHei"/>
                <a:cs typeface="Microsoft YaHei"/>
              </a:rPr>
              <a:t>46.0%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2514E"/>
                </a:solidFill>
                <a:latin typeface="Microsoft YaHei"/>
                <a:ea typeface="Microsoft YaHei"/>
                <a:cs typeface="Microsoft YaHei"/>
              </a:rPr>
              <a:t>前二率（≥4 人局口径）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898781"/>
                </a:solidFill>
                <a:latin typeface="Microsoft YaHei"/>
                <a:ea typeface="Microsoft YaHei"/>
                <a:cs typeface="Microsoft YaHei"/>
              </a:rPr>
              <a:t>夺冠率 23.0%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1679" y="1645920"/>
            <a:ext cx="2613583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81679" y="1645920"/>
            <a:ext cx="2613583" cy="5029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4559" y="1865376"/>
            <a:ext cx="2247823" cy="10881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400" b="1" i="0">
                <a:solidFill>
                  <a:srgbClr val="0B0B0B"/>
                </a:solidFill>
                <a:latin typeface="Microsoft YaHei"/>
                <a:ea typeface="Microsoft YaHei"/>
                <a:cs typeface="Microsoft YaHei"/>
              </a:rPr>
              <a:t>¥6643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2514E"/>
                </a:solidFill>
                <a:latin typeface="Microsoft YaHei"/>
                <a:ea typeface="Microsoft YaHei"/>
                <a:cs typeface="Microsoft YaHei"/>
              </a:rPr>
              <a:t>终局净资产中位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898781"/>
                </a:solidFill>
                <a:latin typeface="Microsoft YaHei"/>
                <a:ea typeface="Microsoft YaHei"/>
                <a:cs typeface="Microsoft YaHei"/>
              </a:rPr>
              <a:t>第 1 名中位 ¥8105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96431" y="1645920"/>
            <a:ext cx="2613583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96431" y="1645920"/>
            <a:ext cx="2613583" cy="5029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9311" y="1865376"/>
            <a:ext cx="2247823" cy="10881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400" b="1" i="0">
                <a:solidFill>
                  <a:srgbClr val="0B0B0B"/>
                </a:solidFill>
                <a:latin typeface="Microsoft YaHei"/>
                <a:ea typeface="Microsoft YaHei"/>
                <a:cs typeface="Microsoft YaHei"/>
              </a:rPr>
              <a:t>¥521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2514E"/>
                </a:solidFill>
                <a:latin typeface="Microsoft YaHei"/>
                <a:ea typeface="Microsoft YaHei"/>
                <a:cs typeface="Microsoft YaHei"/>
              </a:rPr>
              <a:t>冠军领先亚军的中位差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898781"/>
                </a:solidFill>
                <a:latin typeface="Microsoft YaHei"/>
                <a:ea typeface="Microsoft YaHei"/>
                <a:cs typeface="Microsoft YaHei"/>
              </a:rPr>
              <a:t>均值 ¥736——极紧的游戏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011183" y="1645920"/>
            <a:ext cx="2613583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011183" y="1645920"/>
            <a:ext cx="2613583" cy="5029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94063" y="1865376"/>
            <a:ext cx="2247823" cy="10881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400" b="1" i="0">
                <a:solidFill>
                  <a:srgbClr val="0B0B0B"/>
                </a:solidFill>
                <a:latin typeface="Microsoft YaHei"/>
                <a:ea typeface="Microsoft YaHei"/>
                <a:cs typeface="Microsoft YaHei"/>
              </a:rPr>
              <a:t>11.87 / 14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2514E"/>
                </a:solidFill>
                <a:latin typeface="Microsoft YaHei"/>
                <a:ea typeface="Microsoft YaHei"/>
                <a:cs typeface="Microsoft YaHei"/>
              </a:rPr>
              <a:t>每局上市主要公司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898781"/>
                </a:solidFill>
                <a:latin typeface="Microsoft YaHei"/>
                <a:ea typeface="Microsoft YaHei"/>
                <a:cs typeface="Microsoft YaHei"/>
              </a:rPr>
              <a:t>8 家私营 100% 售出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3401568"/>
            <a:ext cx="11057839" cy="658368"/>
          </a:xfrm>
          <a:prstGeom prst="rect">
            <a:avLst/>
          </a:prstGeom>
          <a:solidFill>
            <a:srgbClr val="F2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66928" y="3401568"/>
            <a:ext cx="50292" cy="65836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86384" y="3401568"/>
            <a:ext cx="10618927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78D6"/>
                </a:solidFill>
                <a:latin typeface="Microsoft YaHei"/>
                <a:ea typeface="Microsoft YaHei"/>
                <a:cs typeface="Microsoft YaHei"/>
              </a:rPr>
              <a:t>第一个反直觉数字：</a:t>
            </a:r>
            <a:r>
              <a:rPr sz="1350" b="0" i="0">
                <a:solidFill>
                  <a:srgbClr val="0B0B0B"/>
                </a:solidFill>
                <a:latin typeface="Microsoft YaHei"/>
                <a:ea typeface="Microsoft YaHei"/>
                <a:cs typeface="Microsoft YaHei"/>
              </a:rPr>
              <a:t>冠军与亚军的中位差距只有 ¥521——相当于一家公司 5% 股份的钱。最后三轮的每一次派息、每一次垫资都可能翻盘。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6428232"/>
            <a:ext cx="663470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98781"/>
                </a:solidFill>
                <a:latin typeface="Microsoft YaHei"/>
                <a:ea typeface="Microsoft YaHei"/>
                <a:cs typeface="Microsoft YaHei"/>
              </a:rPr>
              <a:t>数据：18xx.games ｜ 分析：Pig9013 ｜ 模型：Deepseek-flash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01631" y="6428232"/>
            <a:ext cx="4423135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98781"/>
                </a:solidFill>
                <a:latin typeface="Microsoft YaHei"/>
                <a:ea typeface="Microsoft YaHei"/>
                <a:cs typeface="Microsoft YaHe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34440" y="2103120"/>
            <a:ext cx="100584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400" b="1" i="0">
                <a:solidFill>
                  <a:srgbClr val="2A78D6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310896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0B0B0B"/>
                </a:solidFill>
                <a:latin typeface="Microsoft YaHei"/>
                <a:ea typeface="Microsoft YaHei"/>
                <a:cs typeface="Microsoft YaHei"/>
              </a:rPr>
              <a:t>玩家层：谁在赢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3913632"/>
            <a:ext cx="9144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52514E"/>
                </a:solidFill>
                <a:latin typeface="Microsoft YaHei"/>
                <a:ea typeface="Microsoft YaHei"/>
                <a:cs typeface="Microsoft YaHei"/>
              </a:rPr>
              <a:t>前二制 rank rating + Bradley-Terry 双口径，分 top / mid / bot 三档。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28232"/>
            <a:ext cx="663470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98781"/>
                </a:solidFill>
                <a:latin typeface="Microsoft YaHei"/>
                <a:ea typeface="Microsoft YaHei"/>
                <a:cs typeface="Microsoft YaHei"/>
              </a:rPr>
              <a:t>数据：18xx.games ｜ 分析：Pig9013 ｜ 模型：Deepseek-flash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01631" y="6428232"/>
            <a:ext cx="4423135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98781"/>
                </a:solidFill>
                <a:latin typeface="Microsoft YaHei"/>
                <a:ea typeface="Microsoft YaHei"/>
                <a:cs typeface="Microsoft YaHe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A78D6"/>
                </a:solidFill>
                <a:latin typeface="Microsoft YaHei"/>
                <a:ea typeface="Microsoft YaHei"/>
                <a:cs typeface="Microsoft YaHei"/>
              </a:rPr>
              <a:t>01 玩家层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03504"/>
            <a:ext cx="11057839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B0B0B"/>
                </a:solidFill>
                <a:latin typeface="Microsoft YaHei"/>
                <a:ea typeface="Microsoft YaHei"/>
                <a:cs typeface="Microsoft YaHei"/>
              </a:rPr>
              <a:t>口径：为什么用「前二制」而不是场均名次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33856"/>
            <a:ext cx="841248" cy="5029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43584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2514E"/>
                </a:solidFill>
                <a:latin typeface="Microsoft YaHei"/>
                <a:ea typeface="Microsoft YaHei"/>
                <a:cs typeface="Microsoft YaHei"/>
              </a:rPr>
              <a:t>本作有 3–7 人共 5 种人数，场均名次不可跨人数比较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55064"/>
            <a:ext cx="41148" cy="74980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1627632"/>
            <a:ext cx="10874959" cy="804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0B0B0B"/>
                </a:solidFill>
                <a:latin typeface="Microsoft YaHei"/>
                <a:ea typeface="Microsoft YaHei"/>
                <a:cs typeface="Microsoft YaHei"/>
              </a:rPr>
              <a:t>前二制 rank rating（RR）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52514E"/>
                </a:solidFill>
                <a:latin typeface="Microsoft YaHei"/>
                <a:ea typeface="Microsoft YaHei"/>
                <a:cs typeface="Microsoft YaHei"/>
              </a:rPr>
              <a:t>第 1 名 +2、第 2 名 +1、第 3 名起 −(名次−2)；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52514E"/>
                </a:solidFill>
                <a:latin typeface="Microsoft YaHei"/>
                <a:ea typeface="Microsoft YaHei"/>
                <a:cs typeface="Microsoft YaHei"/>
              </a:rPr>
              <a:t>建模只构造「前二 vs 非前二」比较对——第 1 与第 2 之间不比，第 3 与第 4 之间不比。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2624327"/>
            <a:ext cx="41148" cy="5120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2596896"/>
            <a:ext cx="1087495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0B0B0B"/>
                </a:solidFill>
                <a:latin typeface="Microsoft YaHei"/>
                <a:ea typeface="Microsoft YaHei"/>
                <a:cs typeface="Microsoft YaHei"/>
              </a:rPr>
              <a:t>Bradley-Terry（BT）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52514E"/>
                </a:solidFill>
                <a:latin typeface="Microsoft YaHei"/>
                <a:ea typeface="Microsoft YaHei"/>
                <a:cs typeface="Microsoft YaHei"/>
              </a:rPr>
              <a:t>L2 正则 logistic 回归拟合 log-强度（λ=1.0），用于分层——它按对手强度校正。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3355847"/>
            <a:ext cx="41148" cy="5120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3328415"/>
            <a:ext cx="1087495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0B0B0B"/>
                </a:solidFill>
                <a:latin typeface="Microsoft YaHei"/>
                <a:ea typeface="Microsoft YaHei"/>
                <a:cs typeface="Microsoft YaHei"/>
              </a:rPr>
              <a:t>归一化名次 =(名次−1)/(人数−1)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52514E"/>
                </a:solidFill>
                <a:latin typeface="Microsoft YaHei"/>
                <a:ea typeface="Microsoft YaHei"/>
                <a:cs typeface="Microsoft YaHei"/>
              </a:rPr>
              <a:t>0 = 夺冠、1 = 垫底，跨人数唯一可比；前二率只在 ≥4 人局统计（3 人局恒为 2/3）。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566928" y="3749039"/>
          <a:ext cx="11057836" cy="166420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983861"/>
                <a:gridCol w="1053127"/>
                <a:gridCol w="1053127"/>
                <a:gridCol w="1404170"/>
                <a:gridCol w="1755212"/>
                <a:gridCol w="1228648"/>
                <a:gridCol w="1579691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玩家</a:t>
                      </a:r>
                    </a:p>
                  </a:txBody>
                  <a:tcPr marL="64008" marR="64008" marT="13716" marB="13716" anchor="ctr">
                    <a:solidFill>
                      <a:srgbClr val="0B0B0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局数</a:t>
                      </a:r>
                    </a:p>
                  </a:txBody>
                  <a:tcPr marL="64008" marR="64008" marT="13716" marB="13716" anchor="ctr">
                    <a:solidFill>
                      <a:srgbClr val="0B0B0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夺冠</a:t>
                      </a:r>
                    </a:p>
                  </a:txBody>
                  <a:tcPr marL="64008" marR="64008" marT="13716" marB="13716" anchor="ctr">
                    <a:solidFill>
                      <a:srgbClr val="0B0B0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前二率</a:t>
                      </a:r>
                    </a:p>
                  </a:txBody>
                  <a:tcPr marL="64008" marR="64008" marT="13716" marB="13716" anchor="ctr">
                    <a:solidFill>
                      <a:srgbClr val="0B0B0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归一化名次</a:t>
                      </a:r>
                    </a:p>
                  </a:txBody>
                  <a:tcPr marL="64008" marR="64008" marT="13716" marB="13716" anchor="ctr">
                    <a:solidFill>
                      <a:srgbClr val="0B0B0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RR/局</a:t>
                      </a:r>
                    </a:p>
                  </a:txBody>
                  <a:tcPr marL="64008" marR="64008" marT="13716" marB="13716" anchor="ctr">
                    <a:solidFill>
                      <a:srgbClr val="0B0B0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BT×1000</a:t>
                      </a:r>
                    </a:p>
                  </a:txBody>
                  <a:tcPr marL="64008" marR="64008" marT="13716" marB="13716" anchor="ctr">
                    <a:solidFill>
                      <a:srgbClr val="0B0B0B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50" b="1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djanyreason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27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13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92.6%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0.157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1.33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8330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50" b="1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cougar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45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30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86.7%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0.13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1.36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5290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50" b="1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nestorjj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24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83.3%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0.206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1.04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4120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50" b="1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Fohlenfab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44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19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70.5%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0.269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0.61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2480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50" b="1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玩家8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56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13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42.9%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0.403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-0.29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900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Rectangle 13"/>
          <p:cNvSpPr/>
          <p:nvPr/>
        </p:nvSpPr>
        <p:spPr>
          <a:xfrm>
            <a:off x="566928" y="5413248"/>
            <a:ext cx="11057839" cy="658368"/>
          </a:xfrm>
          <a:prstGeom prst="rect">
            <a:avLst/>
          </a:prstGeom>
          <a:solidFill>
            <a:srgbClr val="F2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66928" y="5413248"/>
            <a:ext cx="50292" cy="65836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4" y="5413248"/>
            <a:ext cx="10618927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2A78D6"/>
                </a:solidFill>
                <a:latin typeface="Microsoft YaHei"/>
                <a:ea typeface="Microsoft YaHei"/>
                <a:cs typeface="Microsoft YaHei"/>
              </a:rPr>
              <a:t>样本警告：</a:t>
            </a:r>
            <a:r>
              <a:rPr sz="1200" b="0" i="0">
                <a:solidFill>
                  <a:srgbClr val="0B0B0B"/>
                </a:solidFill>
                <a:latin typeface="Microsoft YaHei"/>
                <a:ea typeface="Microsoft YaHei"/>
                <a:cs typeface="Microsoft YaHei"/>
              </a:rPr>
              <a:t>n&lt;20 的格子只作参考：Ken Boucher（9 局）RR 全场最高但 BT 只排第 8，因为对手偏弱；玩家8（56 局）胜率不到一半却因常年对强者而拿到中位分。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6428232"/>
            <a:ext cx="663470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98781"/>
                </a:solidFill>
                <a:latin typeface="Microsoft YaHei"/>
                <a:ea typeface="Microsoft YaHei"/>
                <a:cs typeface="Microsoft YaHei"/>
              </a:rPr>
              <a:t>数据：18xx.games ｜ 分析：Pig9013 ｜ 模型：Deepseek-flash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01631" y="6428232"/>
            <a:ext cx="4423135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98781"/>
                </a:solidFill>
                <a:latin typeface="Microsoft YaHei"/>
                <a:ea typeface="Microsoft YaHei"/>
                <a:cs typeface="Microsoft YaHe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A78D6"/>
                </a:solidFill>
                <a:latin typeface="Microsoft YaHei"/>
                <a:ea typeface="Microsoft YaHei"/>
                <a:cs typeface="Microsoft YaHei"/>
              </a:rPr>
              <a:t>01 玩家层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03504"/>
            <a:ext cx="11057839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B0B0B"/>
                </a:solidFill>
                <a:latin typeface="Microsoft YaHei"/>
                <a:ea typeface="Microsoft YaHei"/>
                <a:cs typeface="Microsoft YaHei"/>
              </a:rPr>
              <a:t>分层结果与熟人局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33856"/>
            <a:ext cx="841248" cy="5029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43584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2514E"/>
                </a:solidFill>
                <a:latin typeface="Microsoft YaHei"/>
                <a:ea typeface="Microsoft YaHei"/>
                <a:cs typeface="Microsoft YaHei"/>
              </a:rPr>
              <a:t>top 8 人 / mid 13 人 / bot 15 人；熟人局样本不足以支撑分层结论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45920"/>
            <a:ext cx="2613583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1645920"/>
            <a:ext cx="2613583" cy="5029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1865376"/>
            <a:ext cx="2247823" cy="10881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400" b="1" i="0">
                <a:solidFill>
                  <a:srgbClr val="0B0B0B"/>
                </a:solidFill>
                <a:latin typeface="Microsoft YaHei"/>
                <a:ea typeface="Microsoft YaHei"/>
                <a:cs typeface="Microsoft YaHei"/>
              </a:rPr>
              <a:t>8 人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2514E"/>
                </a:solidFill>
                <a:latin typeface="Microsoft YaHei"/>
                <a:ea typeface="Microsoft YaHei"/>
                <a:cs typeface="Microsoft YaHei"/>
              </a:rPr>
              <a:t>top 档（BT≥2.0）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898781"/>
                </a:solidFill>
                <a:latin typeface="Microsoft YaHei"/>
                <a:ea typeface="Microsoft YaHei"/>
                <a:cs typeface="Microsoft YaHei"/>
              </a:rPr>
              <a:t>djanyreason、cougar、nestorjj、Fohlenfab…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81679" y="1645920"/>
            <a:ext cx="2613583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381679" y="1645920"/>
            <a:ext cx="2613583" cy="5029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64559" y="1865376"/>
            <a:ext cx="2247823" cy="10881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400" b="1" i="0">
                <a:solidFill>
                  <a:srgbClr val="0B0B0B"/>
                </a:solidFill>
                <a:latin typeface="Microsoft YaHei"/>
                <a:ea typeface="Microsoft YaHei"/>
                <a:cs typeface="Microsoft YaHei"/>
              </a:rPr>
              <a:t>13 人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2514E"/>
                </a:solidFill>
                <a:latin typeface="Microsoft YaHei"/>
                <a:ea typeface="Microsoft YaHei"/>
                <a:cs typeface="Microsoft YaHei"/>
              </a:rPr>
              <a:t>mid 档（0.7≤BT&lt;2.0）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898781"/>
                </a:solidFill>
                <a:latin typeface="Microsoft YaHei"/>
                <a:ea typeface="Microsoft YaHei"/>
                <a:cs typeface="Microsoft YaHei"/>
              </a:rPr>
              <a:t>toddvp、cruizer、daroj…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96431" y="1645920"/>
            <a:ext cx="2613583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96431" y="1645920"/>
            <a:ext cx="2613583" cy="5029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79311" y="1865376"/>
            <a:ext cx="2247823" cy="10881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400" b="1" i="0">
                <a:solidFill>
                  <a:srgbClr val="0B0B0B"/>
                </a:solidFill>
                <a:latin typeface="Microsoft YaHei"/>
                <a:ea typeface="Microsoft YaHei"/>
                <a:cs typeface="Microsoft YaHei"/>
              </a:rPr>
              <a:t>15 人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2514E"/>
                </a:solidFill>
                <a:latin typeface="Microsoft YaHei"/>
                <a:ea typeface="Microsoft YaHei"/>
                <a:cs typeface="Microsoft YaHei"/>
              </a:rPr>
              <a:t>bot 档（BT&lt;0.7）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898781"/>
                </a:solidFill>
                <a:latin typeface="Microsoft YaHei"/>
                <a:ea typeface="Microsoft YaHei"/>
                <a:cs typeface="Microsoft YaHei"/>
              </a:rPr>
              <a:t>edhew、DrAwesome、Trigo…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011183" y="1645920"/>
            <a:ext cx="2613583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011183" y="1645920"/>
            <a:ext cx="2613583" cy="5029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94063" y="1865376"/>
            <a:ext cx="2247823" cy="10881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400" b="1" i="0">
                <a:solidFill>
                  <a:srgbClr val="0B0B0B"/>
                </a:solidFill>
                <a:latin typeface="Microsoft YaHei"/>
                <a:ea typeface="Microsoft YaHei"/>
                <a:cs typeface="Microsoft YaHei"/>
              </a:rPr>
              <a:t>481 人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2514E"/>
                </a:solidFill>
                <a:latin typeface="Microsoft YaHei"/>
                <a:ea typeface="Microsoft YaHei"/>
                <a:cs typeface="Microsoft YaHei"/>
              </a:rPr>
              <a:t>small（n&lt;8 局）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898781"/>
                </a:solidFill>
                <a:latin typeface="Microsoft YaHei"/>
                <a:ea typeface="Microsoft YaHei"/>
                <a:cs typeface="Microsoft YaHei"/>
              </a:rPr>
              <a:t>只作对手强度，不参与分层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566928" y="3401568"/>
          <a:ext cx="11057838" cy="95097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041447"/>
                <a:gridCol w="1190844"/>
                <a:gridCol w="2551809"/>
                <a:gridCol w="2721929"/>
                <a:gridCol w="2551809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类型</a:t>
                      </a:r>
                    </a:p>
                  </a:txBody>
                  <a:tcPr marL="64008" marR="64008" marT="13716" marB="13716" anchor="ctr">
                    <a:solidFill>
                      <a:srgbClr val="0B0B0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局数</a:t>
                      </a:r>
                    </a:p>
                  </a:txBody>
                  <a:tcPr marL="64008" marR="64008" marT="13716" marB="13716" anchor="ctr">
                    <a:solidFill>
                      <a:srgbClr val="0B0B0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前二率（≥4 人局）</a:t>
                      </a:r>
                    </a:p>
                  </a:txBody>
                  <a:tcPr marL="64008" marR="64008" marT="13716" marB="13716" anchor="ctr">
                    <a:solidFill>
                      <a:srgbClr val="0B0B0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top 档前二率</a:t>
                      </a:r>
                    </a:p>
                  </a:txBody>
                  <a:tcPr marL="64008" marR="64008" marT="13716" marB="13716" anchor="ctr">
                    <a:solidFill>
                      <a:srgbClr val="0B0B0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bot 档前二率</a:t>
                      </a:r>
                    </a:p>
                  </a:txBody>
                  <a:tcPr marL="64008" marR="64008" marT="13716" marB="13716" anchor="ctr">
                    <a:solidFill>
                      <a:srgbClr val="0B0B0B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50" b="1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熟人局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56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48.2%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3/3（n=3，无意义）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46.9%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50" b="1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路人局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302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42.6%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78.5%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30.5%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</a:tr>
            </a:tbl>
          </a:graphicData>
        </a:graphic>
      </p:graphicFrame>
      <p:sp>
        <p:nvSpPr>
          <p:cNvPr id="20" name="Rectangle 19"/>
          <p:cNvSpPr/>
          <p:nvPr/>
        </p:nvSpPr>
        <p:spPr>
          <a:xfrm>
            <a:off x="566928" y="4443984"/>
            <a:ext cx="11057839" cy="658368"/>
          </a:xfrm>
          <a:prstGeom prst="rect">
            <a:avLst/>
          </a:prstGeom>
          <a:solidFill>
            <a:srgbClr val="F2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66928" y="4443984"/>
            <a:ext cx="50292" cy="65836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6384" y="4443984"/>
            <a:ext cx="10618927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78D6"/>
                </a:solidFill>
                <a:latin typeface="Microsoft YaHei"/>
                <a:ea typeface="Microsoft YaHei"/>
                <a:cs typeface="Microsoft YaHei"/>
              </a:rPr>
              <a:t>能说的：</a:t>
            </a:r>
            <a:r>
              <a:rPr sz="1350" b="0" i="0">
                <a:solidFill>
                  <a:srgbClr val="0B0B0B"/>
                </a:solidFill>
                <a:latin typeface="Microsoft YaHei"/>
                <a:ea typeface="Microsoft YaHei"/>
                <a:cs typeface="Microsoft YaHei"/>
              </a:rPr>
              <a:t>路人局里 top 与 bot 的前二率差 48 个百分点——技术水平在路人局的解释力极强。熟人局只有 56 局（≥4 人局 42 局），不足以回答「熟人局是否压缩技术差距」，本报告不下该结论。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28232"/>
            <a:ext cx="663470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98781"/>
                </a:solidFill>
                <a:latin typeface="Microsoft YaHei"/>
                <a:ea typeface="Microsoft YaHei"/>
                <a:cs typeface="Microsoft YaHei"/>
              </a:rPr>
              <a:t>数据：18xx.games ｜ 分析：Pig9013 ｜ 模型：Deepseek-flash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01631" y="6428232"/>
            <a:ext cx="4423135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98781"/>
                </a:solidFill>
                <a:latin typeface="Microsoft YaHei"/>
                <a:ea typeface="Microsoft YaHei"/>
                <a:cs typeface="Microsoft YaHe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34440" y="2103120"/>
            <a:ext cx="100584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400" b="1" i="0">
                <a:solidFill>
                  <a:srgbClr val="2A78D6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310896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0B0B0B"/>
                </a:solidFill>
                <a:latin typeface="Microsoft YaHei"/>
                <a:ea typeface="Microsoft YaHei"/>
                <a:cs typeface="Microsoft YaHei"/>
              </a:rPr>
              <a:t>机制与差异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3913632"/>
            <a:ext cx="9144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52514E"/>
                </a:solidFill>
                <a:latin typeface="Microsoft YaHei"/>
                <a:ea typeface="Microsoft YaHei"/>
                <a:cs typeface="Microsoft YaHei"/>
              </a:rPr>
              <a:t>先讲清规则，再谈策略——尤其是本作独有的「建筑许可」。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28232"/>
            <a:ext cx="663470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98781"/>
                </a:solidFill>
                <a:latin typeface="Microsoft YaHei"/>
                <a:ea typeface="Microsoft YaHei"/>
                <a:cs typeface="Microsoft YaHei"/>
              </a:rPr>
              <a:t>数据：18xx.games ｜ 分析：Pig9013 ｜ 模型：Deepseek-flash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01631" y="6428232"/>
            <a:ext cx="4423135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98781"/>
                </a:solidFill>
                <a:latin typeface="Microsoft YaHei"/>
                <a:ea typeface="Microsoft YaHei"/>
                <a:cs typeface="Microsoft YaHe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A78D6"/>
                </a:solidFill>
                <a:latin typeface="Microsoft YaHei"/>
                <a:ea typeface="Microsoft YaHei"/>
                <a:cs typeface="Microsoft YaHei"/>
              </a:rPr>
              <a:t>02 机制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03504"/>
            <a:ext cx="11057839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B0B0B"/>
                </a:solidFill>
                <a:latin typeface="Microsoft YaHei"/>
                <a:ea typeface="Microsoft YaHei"/>
                <a:cs typeface="Microsoft YaHei"/>
              </a:rPr>
              <a:t>与 1830／1846／1862 的差异（防混淆）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33856"/>
            <a:ext cx="841248" cy="5029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43584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2514E"/>
                </a:solidFill>
                <a:latin typeface="Microsoft YaHei"/>
                <a:ea typeface="Microsoft YaHei"/>
                <a:cs typeface="Microsoft YaHei"/>
              </a:rPr>
              <a:t>翻译与查规时最容易张冠李戴的九项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1627632"/>
          <a:ext cx="11057838" cy="362102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675430"/>
                <a:gridCol w="1507887"/>
                <a:gridCol w="1507887"/>
                <a:gridCol w="2010516"/>
                <a:gridCol w="4356118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维度</a:t>
                      </a:r>
                    </a:p>
                  </a:txBody>
                  <a:tcPr marL="64008" marR="64008" marT="13716" marB="13716" anchor="ctr">
                    <a:solidFill>
                      <a:srgbClr val="0B0B0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1830</a:t>
                      </a:r>
                    </a:p>
                  </a:txBody>
                  <a:tcPr marL="64008" marR="64008" marT="13716" marB="13716" anchor="ctr">
                    <a:solidFill>
                      <a:srgbClr val="0B0B0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1846</a:t>
                      </a:r>
                    </a:p>
                  </a:txBody>
                  <a:tcPr marL="64008" marR="64008" marT="13716" marB="13716" anchor="ctr">
                    <a:solidFill>
                      <a:srgbClr val="0B0B0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1862</a:t>
                      </a:r>
                    </a:p>
                  </a:txBody>
                  <a:tcPr marL="64008" marR="64008" marT="13716" marB="13716" anchor="ctr">
                    <a:solidFill>
                      <a:srgbClr val="0B0B0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1880</a:t>
                      </a:r>
                    </a:p>
                  </a:txBody>
                  <a:tcPr marL="64008" marR="64008" marT="13716" marB="13716" anchor="ctr">
                    <a:solidFill>
                      <a:srgbClr val="0B0B0B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铺轨次数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 次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 次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按许可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 次（BCR 2 次），全程受建筑许可约束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领导头衔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总裁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总裁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总裁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董事（Director）——全文 76 次 director、0 次 president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破产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23.3%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无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61%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无：现金不足 → 董事垫资 → 50% 计息个人贷款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股票池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银行池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银行池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银行池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没有银行池（卖出直接回银行）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随机属性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无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无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16 张许可随机绑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无，全部固定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车站数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看面板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3–5 枚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—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每家固定 3 枚（¥40/¥100，D 阶段翻倍）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结束条件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破产/阶段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Phase IV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破产常见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固定：最后 8 车后每家再运营 3 次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566928" y="5449824"/>
            <a:ext cx="11057839" cy="658368"/>
          </a:xfrm>
          <a:prstGeom prst="rect">
            <a:avLst/>
          </a:prstGeom>
          <a:solidFill>
            <a:srgbClr val="F2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5449824"/>
            <a:ext cx="50292" cy="658368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5449824"/>
            <a:ext cx="10618927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B6834"/>
                </a:solidFill>
                <a:latin typeface="Microsoft YaHei"/>
                <a:ea typeface="Microsoft YaHei"/>
                <a:cs typeface="Microsoft YaHei"/>
              </a:rPr>
              <a:t>头衔提醒：</a:t>
            </a:r>
            <a:r>
              <a:rPr sz="1200" b="0" i="0">
                <a:solidFill>
                  <a:srgbClr val="0B0B0B"/>
                </a:solidFill>
                <a:latin typeface="Microsoft YaHei"/>
                <a:ea typeface="Microsoft YaHei"/>
                <a:cs typeface="Microsoft YaHei"/>
              </a:rPr>
              <a:t>1830／1846 的中译都把 president 译作「总裁」，本作却是 director——查规时务必按英文原词对应，不要跨作品统一。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6428232"/>
            <a:ext cx="663470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98781"/>
                </a:solidFill>
                <a:latin typeface="Microsoft YaHei"/>
                <a:ea typeface="Microsoft YaHei"/>
                <a:cs typeface="Microsoft YaHei"/>
              </a:rPr>
              <a:t>数据：18xx.games ｜ 分析：Pig9013 ｜ 模型：Deepseek-flash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01631" y="6428232"/>
            <a:ext cx="4423135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98781"/>
                </a:solidFill>
                <a:latin typeface="Microsoft YaHei"/>
                <a:ea typeface="Microsoft YaHei"/>
                <a:cs typeface="Microsoft YaHe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A78D6"/>
                </a:solidFill>
                <a:latin typeface="Microsoft YaHei"/>
                <a:ea typeface="Microsoft YaHei"/>
                <a:cs typeface="Microsoft YaHei"/>
              </a:rPr>
              <a:t>02 机制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03504"/>
            <a:ext cx="11057839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B0B0B"/>
                </a:solidFill>
                <a:latin typeface="Microsoft YaHei"/>
                <a:ea typeface="Microsoft YaHei"/>
                <a:cs typeface="Microsoft YaHei"/>
              </a:rPr>
              <a:t>建筑许可：本作最独特的机制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33856"/>
            <a:ext cx="841248" cy="5029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43584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2514E"/>
                </a:solidFill>
                <a:latin typeface="Microsoft YaHei"/>
                <a:ea typeface="Microsoft YaHei"/>
                <a:cs typeface="Microsoft YaHei"/>
              </a:rPr>
              <a:t>铺轨权不是自动的，而是买董事证书时一次性买断的「阶段套餐」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1645920"/>
          <a:ext cx="11057837" cy="159105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762843"/>
                <a:gridCol w="2564136"/>
                <a:gridCol w="1923102"/>
                <a:gridCol w="4807756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董事证书</a:t>
                      </a:r>
                    </a:p>
                  </a:txBody>
                  <a:tcPr marL="64008" marR="64008" marT="13716" marB="13716" anchor="ctr">
                    <a:solidFill>
                      <a:srgbClr val="0B0B0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许可有效期</a:t>
                      </a:r>
                    </a:p>
                  </a:txBody>
                  <a:tcPr marL="64008" marR="64008" marT="13716" marB="13716" anchor="ctr">
                    <a:solidFill>
                      <a:srgbClr val="0B0B0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首开 SR 中位</a:t>
                      </a:r>
                    </a:p>
                  </a:txBody>
                  <a:tcPr marL="64008" marR="64008" marT="13716" marB="13716" anchor="ctr">
                    <a:solidFill>
                      <a:srgbClr val="0B0B0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常见用法</a:t>
                      </a:r>
                    </a:p>
                  </a:txBody>
                  <a:tcPr marL="64008" marR="64008" marT="13716" marB="13716" anchor="ctr">
                    <a:solidFill>
                      <a:srgbClr val="0B0B0B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50" b="1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20%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 个阶段（如 ABC）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标准开局：par=100 + 20% + ABC，¥200 启动，铺轨权覆盖 A/B/C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50" b="1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30%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 个阶段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中盘开公司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50" b="1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40%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 个阶段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6–7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后发公司一次到位（¥280–400），不需要再增持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566928" y="3337560"/>
            <a:ext cx="41148" cy="74980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3310128"/>
            <a:ext cx="10874959" cy="804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0B0B0B"/>
                </a:solidFill>
                <a:latin typeface="Microsoft YaHei"/>
                <a:ea typeface="Microsoft YaHei"/>
                <a:cs typeface="Microsoft YaHei"/>
              </a:rPr>
              <a:t>组合统计：par=100 + 20% 证书 = 928 次，是全作最主流的开局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52514E"/>
                </a:solidFill>
                <a:latin typeface="Microsoft YaHei"/>
                <a:ea typeface="Microsoft YaHei"/>
                <a:cs typeface="Microsoft YaHei"/>
              </a:rPr>
              <a:t>它有最低的启动门槛（20%×¥100 = ¥200），却保证跨 A/B/C 三个阶段的铺轨权。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52514E"/>
                </a:solidFill>
                <a:latin typeface="Microsoft YaHei"/>
                <a:ea typeface="Microsoft YaHei"/>
                <a:cs typeface="Microsoft YaHei"/>
              </a:rPr>
              <a:t>40% 证书几乎只在第 6–7 轮出现——那是「末轮开公司」的标配（par=70 的 40% = ¥280）。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4306824"/>
            <a:ext cx="41148" cy="74980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4279392"/>
            <a:ext cx="10874959" cy="804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0B0B0B"/>
                </a:solidFill>
                <a:latin typeface="Microsoft YaHei"/>
                <a:ea typeface="Microsoft YaHei"/>
                <a:cs typeface="Microsoft YaHei"/>
              </a:rPr>
              <a:t>阶段与列车（§XI）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52514E"/>
                </a:solidFill>
                <a:latin typeface="Microsoft YaHei"/>
                <a:ea typeface="Microsoft YaHei"/>
                <a:cs typeface="Microsoft YaHei"/>
              </a:rPr>
              <a:t>A1 2型 ¥100×10｜A2 2+2 ¥180｜B1 3型 ¥180｜B2 3+3 ¥300｜B3 4型 ¥300（锈蚀 2 型）；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52514E"/>
                </a:solidFill>
                <a:latin typeface="Microsoft YaHei"/>
                <a:ea typeface="Microsoft YaHei"/>
                <a:cs typeface="Microsoft YaHei"/>
              </a:rPr>
              <a:t>C1 4+4 ¥450｜C2 6型 ¥600（2R 登场 ¥250）｜C3 6E ¥700；D1 8型 ¥800｜D2 8E ¥900｜D3 10型 ¥1000。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28232"/>
            <a:ext cx="663470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98781"/>
                </a:solidFill>
                <a:latin typeface="Microsoft YaHei"/>
                <a:ea typeface="Microsoft YaHei"/>
                <a:cs typeface="Microsoft YaHei"/>
              </a:rPr>
              <a:t>数据：18xx.games ｜ 分析：Pig9013 ｜ 模型：Deepseek-flash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01631" y="6428232"/>
            <a:ext cx="4423135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98781"/>
                </a:solidFill>
                <a:latin typeface="Microsoft YaHei"/>
                <a:ea typeface="Microsoft YaHei"/>
                <a:cs typeface="Microsoft YaHe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34440" y="2103120"/>
            <a:ext cx="100584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400" b="1" i="0">
                <a:solidFill>
                  <a:srgbClr val="2A78D6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310896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0B0B0B"/>
                </a:solidFill>
                <a:latin typeface="Microsoft YaHei"/>
                <a:ea typeface="Microsoft YaHei"/>
                <a:cs typeface="Microsoft YaHei"/>
              </a:rPr>
              <a:t>顺位与私营公司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3913632"/>
            <a:ext cx="9144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52514E"/>
                </a:solidFill>
                <a:latin typeface="Microsoft YaHei"/>
                <a:ea typeface="Microsoft YaHei"/>
                <a:cs typeface="Microsoft YaHei"/>
              </a:rPr>
              <a:t>临时顺序 → 拍卖 → 私营公司：把钱花在哪，比谁先开口重要得多。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28232"/>
            <a:ext cx="663470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98781"/>
                </a:solidFill>
                <a:latin typeface="Microsoft YaHei"/>
                <a:ea typeface="Microsoft YaHei"/>
                <a:cs typeface="Microsoft YaHei"/>
              </a:rPr>
              <a:t>数据：18xx.games ｜ 分析：Pig9013 ｜ 模型：Deepseek-flash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01631" y="6428232"/>
            <a:ext cx="4423135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98781"/>
                </a:solidFill>
                <a:latin typeface="Microsoft YaHei"/>
                <a:ea typeface="Microsoft YaHei"/>
                <a:cs typeface="Microsoft YaHe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A78D6"/>
                </a:solidFill>
                <a:latin typeface="Microsoft YaHei"/>
                <a:ea typeface="Microsoft YaHei"/>
                <a:cs typeface="Microsoft YaHei"/>
              </a:rPr>
              <a:t>03 顺位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03504"/>
            <a:ext cx="11057839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B0B0B"/>
                </a:solidFill>
                <a:latin typeface="Microsoft YaHei"/>
                <a:ea typeface="Microsoft YaHei"/>
                <a:cs typeface="Microsoft YaHei"/>
              </a:rPr>
              <a:t>临时顺序（0 号卡）到底影响什么？——几乎不影响结局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33856"/>
            <a:ext cx="841248" cy="5029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43584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2514E"/>
                </a:solidFill>
                <a:latin typeface="Microsoft YaHei"/>
                <a:ea typeface="Microsoft YaHei"/>
                <a:cs typeface="Microsoft YaHei"/>
              </a:rPr>
              <a:t>抽 0–6 号卡定座；拿到 0 号者先开口，其余顺时针就座；P0 由优先权者起拍，P1 由其左邻起拍，依次轮转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700784"/>
            <a:ext cx="2613583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1700784"/>
            <a:ext cx="2613583" cy="5029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1920240"/>
            <a:ext cx="2247823" cy="10881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400" b="1" i="0">
                <a:solidFill>
                  <a:srgbClr val="0B0B0B"/>
                </a:solidFill>
                <a:latin typeface="Microsoft YaHei"/>
                <a:ea typeface="Microsoft YaHei"/>
                <a:cs typeface="Microsoft YaHei"/>
              </a:rPr>
              <a:t>45.5%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2514E"/>
                </a:solidFill>
                <a:latin typeface="Microsoft YaHei"/>
                <a:ea typeface="Microsoft YaHei"/>
                <a:cs typeface="Microsoft YaHei"/>
              </a:rPr>
              <a:t>第一顺位玩家的前二率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898781"/>
                </a:solidFill>
                <a:latin typeface="Microsoft YaHei"/>
                <a:ea typeface="Microsoft YaHei"/>
                <a:cs typeface="Microsoft YaHei"/>
              </a:rPr>
              <a:t>对照基线 46.0%：无差异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81679" y="1700784"/>
            <a:ext cx="2613583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381679" y="1700784"/>
            <a:ext cx="2613583" cy="5029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64559" y="1920240"/>
            <a:ext cx="2247823" cy="10881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400" b="1" i="0">
                <a:solidFill>
                  <a:srgbClr val="0B0B0B"/>
                </a:solidFill>
                <a:latin typeface="Microsoft YaHei"/>
                <a:ea typeface="Microsoft YaHei"/>
                <a:cs typeface="Microsoft YaHei"/>
              </a:rPr>
              <a:t>¥145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2514E"/>
                </a:solidFill>
                <a:latin typeface="Microsoft YaHei"/>
                <a:ea typeface="Microsoft YaHei"/>
                <a:cs typeface="Microsoft YaHei"/>
              </a:rPr>
              <a:t>第一顺位玩家的私营支出中位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898781"/>
                </a:solidFill>
                <a:latin typeface="Microsoft YaHei"/>
                <a:ea typeface="Microsoft YaHei"/>
                <a:cs typeface="Microsoft YaHei"/>
              </a:rPr>
              <a:t>全场中位 ¥145：无差异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96431" y="1700784"/>
            <a:ext cx="2613583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96431" y="1700784"/>
            <a:ext cx="2613583" cy="5029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79311" y="1920240"/>
            <a:ext cx="2247823" cy="10881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400" b="1" i="0">
                <a:solidFill>
                  <a:srgbClr val="0B0B0B"/>
                </a:solidFill>
                <a:latin typeface="Microsoft YaHei"/>
                <a:ea typeface="Microsoft YaHei"/>
                <a:cs typeface="Microsoft YaHei"/>
              </a:rPr>
              <a:t>98.4%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2514E"/>
                </a:solidFill>
                <a:latin typeface="Microsoft YaHei"/>
                <a:ea typeface="Microsoft YaHei"/>
                <a:cs typeface="Microsoft YaHei"/>
              </a:rPr>
              <a:t>起拍者轮转公式吻合率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898781"/>
                </a:solidFill>
                <a:latin typeface="Microsoft YaHei"/>
                <a:ea typeface="Microsoft YaHei"/>
                <a:cs typeface="Microsoft YaHei"/>
              </a:rPr>
              <a:t>2685 场拍卖中 2642 场吻合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011183" y="1700784"/>
            <a:ext cx="2613583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011183" y="1700784"/>
            <a:ext cx="2613583" cy="5029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94063" y="1920240"/>
            <a:ext cx="2247823" cy="10881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400" b="1" i="0">
                <a:solidFill>
                  <a:srgbClr val="0B0B0B"/>
                </a:solidFill>
                <a:latin typeface="Microsoft YaHei"/>
                <a:ea typeface="Microsoft YaHei"/>
                <a:cs typeface="Microsoft YaHei"/>
              </a:rPr>
              <a:t>19–28%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2514E"/>
                </a:solidFill>
                <a:latin typeface="Microsoft YaHei"/>
                <a:ea typeface="Microsoft YaHei"/>
                <a:cs typeface="Microsoft YaHei"/>
              </a:rPr>
              <a:t>起拍者最终自己拿下的比例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898781"/>
                </a:solidFill>
                <a:latin typeface="Microsoft YaHei"/>
                <a:ea typeface="Microsoft YaHei"/>
                <a:cs typeface="Microsoft YaHei"/>
              </a:rPr>
              <a:t>首口价更像替别人抬轿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3529584"/>
            <a:ext cx="11057839" cy="658368"/>
          </a:xfrm>
          <a:prstGeom prst="rect">
            <a:avLst/>
          </a:prstGeom>
          <a:solidFill>
            <a:srgbClr val="F2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6928" y="3529584"/>
            <a:ext cx="50292" cy="65836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86384" y="3529584"/>
            <a:ext cx="10618927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78D6"/>
                </a:solidFill>
                <a:latin typeface="Microsoft YaHei"/>
                <a:ea typeface="Microsoft YaHei"/>
                <a:cs typeface="Microsoft YaHei"/>
              </a:rPr>
              <a:t>结论：</a:t>
            </a:r>
            <a:r>
              <a:rPr sz="1350" b="0" i="0">
                <a:solidFill>
                  <a:srgbClr val="0B0B0B"/>
                </a:solidFill>
                <a:latin typeface="Microsoft YaHei"/>
                <a:ea typeface="Microsoft YaHei"/>
                <a:cs typeface="Microsoft YaHei"/>
              </a:rPr>
              <a:t>先开口不等于有优势——拍卖必须从面值起叫（底价从未下调），先开口只是先亮牌。真正决定命运的是「你在私营上花了多少钱」与「你拿到哪些公司」。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428232"/>
            <a:ext cx="663470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98781"/>
                </a:solidFill>
                <a:latin typeface="Microsoft YaHei"/>
                <a:ea typeface="Microsoft YaHei"/>
                <a:cs typeface="Microsoft YaHei"/>
              </a:rPr>
              <a:t>数据：18xx.games ｜ 分析：Pig9013 ｜ 模型：Deepseek-flash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01631" y="6428232"/>
            <a:ext cx="4423135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98781"/>
                </a:solidFill>
                <a:latin typeface="Microsoft YaHei"/>
                <a:ea typeface="Microsoft YaHei"/>
                <a:cs typeface="Microsoft YaHe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A78D6"/>
                </a:solidFill>
                <a:latin typeface="Microsoft YaHei"/>
                <a:ea typeface="Microsoft YaHei"/>
                <a:cs typeface="Microsoft YaHei"/>
              </a:rPr>
              <a:t>03 顺位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03504"/>
            <a:ext cx="11057839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B0B0B"/>
                </a:solidFill>
                <a:latin typeface="Microsoft YaHei"/>
                <a:ea typeface="Microsoft YaHei"/>
                <a:cs typeface="Microsoft YaHei"/>
              </a:rPr>
              <a:t>竞拍价 = 成交价 − 最低起拍价（面值）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33856"/>
            <a:ext cx="841248" cy="5029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43584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2514E"/>
                </a:solidFill>
                <a:latin typeface="Microsoft YaHei"/>
                <a:ea typeface="Microsoft YaHei"/>
                <a:cs typeface="Microsoft YaHei"/>
              </a:rPr>
              <a:t>341 局中「最低起拍价下调」出现 0 次，所以最低价始终等于面值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1627632"/>
          <a:ext cx="11057834" cy="304952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390884"/>
                <a:gridCol w="821866"/>
                <a:gridCol w="821866"/>
                <a:gridCol w="1120726"/>
                <a:gridCol w="1046011"/>
                <a:gridCol w="821866"/>
                <a:gridCol w="821866"/>
                <a:gridCol w="971296"/>
                <a:gridCol w="896581"/>
                <a:gridCol w="1344872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私营公司</a:t>
                      </a:r>
                    </a:p>
                  </a:txBody>
                  <a:tcPr marL="64008" marR="64008" marT="13716" marB="13716" anchor="ctr">
                    <a:solidFill>
                      <a:srgbClr val="0B0B0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面值</a:t>
                      </a:r>
                    </a:p>
                  </a:txBody>
                  <a:tcPr marL="64008" marR="64008" marT="13716" marB="13716" anchor="ctr">
                    <a:solidFill>
                      <a:srgbClr val="0B0B0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n</a:t>
                      </a:r>
                    </a:p>
                  </a:txBody>
                  <a:tcPr marL="64008" marR="64008" marT="13716" marB="13716" anchor="ctr">
                    <a:solidFill>
                      <a:srgbClr val="0B0B0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= 0 次数</a:t>
                      </a:r>
                    </a:p>
                  </a:txBody>
                  <a:tcPr marL="64008" marR="64008" marT="13716" marB="13716" anchor="ctr">
                    <a:solidFill>
                      <a:srgbClr val="0B0B0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= 0 占比</a:t>
                      </a:r>
                    </a:p>
                  </a:txBody>
                  <a:tcPr marL="64008" marR="64008" marT="13716" marB="13716" anchor="ctr">
                    <a:solidFill>
                      <a:srgbClr val="0B0B0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最低</a:t>
                      </a:r>
                    </a:p>
                  </a:txBody>
                  <a:tcPr marL="64008" marR="64008" marT="13716" marB="13716" anchor="ctr">
                    <a:solidFill>
                      <a:srgbClr val="0B0B0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中位</a:t>
                      </a:r>
                    </a:p>
                  </a:txBody>
                  <a:tcPr marL="64008" marR="64008" marT="13716" marB="13716" anchor="ctr">
                    <a:solidFill>
                      <a:srgbClr val="0B0B0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均值</a:t>
                      </a:r>
                    </a:p>
                  </a:txBody>
                  <a:tcPr marL="64008" marR="64008" marT="13716" marB="13716" anchor="ctr">
                    <a:solidFill>
                      <a:srgbClr val="0B0B0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最高</a:t>
                      </a:r>
                    </a:p>
                  </a:txBody>
                  <a:tcPr marL="64008" marR="64008" marT="13716" marB="13716" anchor="ctr">
                    <a:solidFill>
                      <a:srgbClr val="0B0B0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加价率中位</a:t>
                      </a:r>
                    </a:p>
                  </a:txBody>
                  <a:tcPr marL="64008" marR="64008" marT="13716" marB="13716" anchor="ctr">
                    <a:solidFill>
                      <a:srgbClr val="0B0B0B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1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P0 吴淞铁路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0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0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341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0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0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0.0%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0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+5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0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+25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0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+24.3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0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+60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0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5.00 倍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1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P1 开平铁路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0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0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341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0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0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2.9%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0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0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+10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0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+10.0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0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+40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0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1.00 倍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1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P2 烟大轮渡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0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25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0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341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0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0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0.3%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0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0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+20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0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+22.5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0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+65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0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0.80 倍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1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P3 台湾西部线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0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45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0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341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0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0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1.5%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0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0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+30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0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+28.1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0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+65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0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0.67 倍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1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P4 内河轮渡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0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70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0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341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0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0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0.9%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0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0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+30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0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+29.6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0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+95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0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0.43 倍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1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P5 詹天佑事务所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0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100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0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341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0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0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1.8%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0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0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+25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0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+28.8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0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+145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0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0.25 倍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1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P6 清帝国政府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0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160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0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341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0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0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2.1%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0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0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+45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0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+43.4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0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+85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0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0.28 倍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1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P7 中国火箭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0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50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0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341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0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0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0.3%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0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0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+45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0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+44.5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0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+119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0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0.90 倍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1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合计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0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—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0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2728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0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33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0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1.2%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0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0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+25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0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+28.9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0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+145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0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—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566928" y="4590288"/>
            <a:ext cx="11057839" cy="658368"/>
          </a:xfrm>
          <a:prstGeom prst="rect">
            <a:avLst/>
          </a:prstGeom>
          <a:solidFill>
            <a:srgbClr val="F2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4590288"/>
            <a:ext cx="50292" cy="65836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4590288"/>
            <a:ext cx="10618927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2A78D6"/>
                </a:solidFill>
                <a:latin typeface="Microsoft YaHei"/>
                <a:ea typeface="Microsoft YaHei"/>
                <a:cs typeface="Microsoft YaHei"/>
              </a:rPr>
              <a:t>读表：</a:t>
            </a:r>
            <a:r>
              <a:rPr sz="1200" b="0" i="0">
                <a:solidFill>
                  <a:srgbClr val="0B0B0B"/>
                </a:solidFill>
                <a:latin typeface="Microsoft YaHei"/>
                <a:ea typeface="Microsoft YaHei"/>
                <a:cs typeface="Microsoft YaHei"/>
              </a:rPr>
              <a:t>P0 是唯一 341 局从未底价成交的公司（加价率中位 5.00 倍：面值 ¥5 → 中位成交 ¥30）；P6/P7 的绝对加价最高（中位各 +¥45）。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6428232"/>
            <a:ext cx="663470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98781"/>
                </a:solidFill>
                <a:latin typeface="Microsoft YaHei"/>
                <a:ea typeface="Microsoft YaHei"/>
                <a:cs typeface="Microsoft YaHei"/>
              </a:rPr>
              <a:t>数据：18xx.games ｜ 分析：Pig9013 ｜ 模型：Deepseek-flash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01631" y="6428232"/>
            <a:ext cx="4423135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98781"/>
                </a:solidFill>
                <a:latin typeface="Microsoft YaHei"/>
                <a:ea typeface="Microsoft YaHei"/>
                <a:cs typeface="Microsoft YaHe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A78D6"/>
                </a:solidFill>
                <a:latin typeface="Microsoft YaHei"/>
                <a:ea typeface="Microsoft YaHei"/>
                <a:cs typeface="Microsoft YaHei"/>
              </a:rPr>
              <a:t>03 顺位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03504"/>
            <a:ext cx="11057839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B0B0B"/>
                </a:solidFill>
                <a:latin typeface="Microsoft YaHei"/>
                <a:ea typeface="Microsoft YaHei"/>
                <a:cs typeface="Microsoft YaHei"/>
              </a:rPr>
              <a:t>竞拍价的分布：= 0 只有 1.2%，且只出现在「1 家出价」的冷场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33856"/>
            <a:ext cx="841248" cy="5029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pr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8529" y="1572768"/>
            <a:ext cx="7094636" cy="22860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66928" y="4014216"/>
            <a:ext cx="41148" cy="5120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3986784"/>
            <a:ext cx="1087495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0B0B0B"/>
                </a:solidFill>
                <a:latin typeface="Microsoft YaHei"/>
                <a:ea typeface="Microsoft YaHei"/>
                <a:cs typeface="Microsoft YaHei"/>
              </a:rPr>
              <a:t>= 0 的 33 场全部集中在「仅 1 家出价」的场次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52514E"/>
                </a:solidFill>
                <a:latin typeface="Microsoft YaHei"/>
                <a:ea typeface="Microsoft YaHei"/>
                <a:cs typeface="Microsoft YaHei"/>
              </a:rPr>
              <a:t>160 场冷场中有 33 场（20.6%）以底价成交；只要有 2 家以上竞买，竞拍价从不等于 0。这 33 场里 3 人局占 60.6%。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4745736"/>
            <a:ext cx="41148" cy="5120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4718304"/>
            <a:ext cx="1087495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0B0B0B"/>
                </a:solidFill>
                <a:latin typeface="Microsoft YaHei"/>
                <a:ea typeface="Microsoft YaHei"/>
                <a:cs typeface="Microsoft YaHei"/>
              </a:rPr>
              <a:t>这些局的私营总成交额中位 ¥545，远低于全体 ¥700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52514E"/>
                </a:solidFill>
                <a:latin typeface="Microsoft YaHei"/>
                <a:ea typeface="Microsoft YaHei"/>
                <a:cs typeface="Microsoft YaHei"/>
              </a:rPr>
              <a:t>是「冷清局」的产物，不是捡漏技巧；买家前二率 57.6%，与其人数构成对应的期望基线 57.9% 一致——既没占便宜也没吃亏。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6428232"/>
            <a:ext cx="663470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98781"/>
                </a:solidFill>
                <a:latin typeface="Microsoft YaHei"/>
                <a:ea typeface="Microsoft YaHei"/>
                <a:cs typeface="Microsoft YaHei"/>
              </a:rPr>
              <a:t>数据：18xx.games ｜ 分析：Pig9013 ｜ 模型：Deepseek-flash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01631" y="6428232"/>
            <a:ext cx="4423135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98781"/>
                </a:solidFill>
                <a:latin typeface="Microsoft YaHei"/>
                <a:ea typeface="Microsoft YaHei"/>
                <a:cs typeface="Microsoft YaHe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A78D6"/>
                </a:solidFill>
                <a:latin typeface="Microsoft YaHei"/>
                <a:ea typeface="Microsoft YaHei"/>
                <a:cs typeface="Microsoft YaHei"/>
              </a:rPr>
              <a:t>03 顺位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03504"/>
            <a:ext cx="11057839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B0B0B"/>
                </a:solidFill>
                <a:latin typeface="Microsoft YaHei"/>
                <a:ea typeface="Microsoft YaHei"/>
                <a:cs typeface="Microsoft YaHei"/>
              </a:rPr>
              <a:t>私营公司该买几张？——越多越好，唯一禁区是清空现金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33856"/>
            <a:ext cx="841248" cy="5029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priv_inv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15343" y="1554480"/>
            <a:ext cx="6961008" cy="22860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66928" y="4014216"/>
            <a:ext cx="41148" cy="74980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3986784"/>
            <a:ext cx="10874959" cy="804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0B0B0B"/>
                </a:solidFill>
                <a:latin typeface="Microsoft YaHei"/>
                <a:ea typeface="Microsoft YaHei"/>
                <a:cs typeface="Microsoft YaHei"/>
              </a:rPr>
              <a:t>张数越多越好（4 张 55.8% vs 0 张 41.7%，单调）；唯一的禁区是「清空现金」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52514E"/>
                </a:solidFill>
                <a:latin typeface="Microsoft YaHei"/>
                <a:ea typeface="Microsoft YaHei"/>
                <a:cs typeface="Microsoft YaHei"/>
              </a:rPr>
              <a:t>支出 &gt; 起始资金 83% 的一档前二率只有 34.2%，且该档 SR1 开店中位 0 家、买股中位 0 次——等于把第一个购股轮整轮让给别人。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52514E"/>
                </a:solidFill>
                <a:latin typeface="Microsoft YaHei"/>
                <a:ea typeface="Microsoft YaHei"/>
                <a:cs typeface="Microsoft YaHei"/>
              </a:rPr>
              <a:t>买完必须还留得下开一家公司的钱。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4983480"/>
            <a:ext cx="41148" cy="5120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4956048"/>
            <a:ext cx="1087495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0B0B0B"/>
                </a:solidFill>
                <a:latin typeface="Microsoft YaHei"/>
                <a:ea typeface="Microsoft YaHei"/>
                <a:cs typeface="Microsoft YaHei"/>
              </a:rPr>
              <a:t>单张层面：P3 台湾西部线最好（59.5%），P5 詹天佑最差（41.1%）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52514E"/>
                </a:solidFill>
                <a:latin typeface="Microsoft YaHei"/>
                <a:ea typeface="Microsoft YaHei"/>
                <a:cs typeface="Microsoft YaHei"/>
              </a:rPr>
              <a:t>P6 的价值不在自己（51.0%），而在 P0+P6（58.1%）、P4+P6（55.6%）这类能兑现 BCR 的组合。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6428232"/>
            <a:ext cx="663470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98781"/>
                </a:solidFill>
                <a:latin typeface="Microsoft YaHei"/>
                <a:ea typeface="Microsoft YaHei"/>
                <a:cs typeface="Microsoft YaHei"/>
              </a:rPr>
              <a:t>数据：18xx.games ｜ 分析：Pig9013 ｜ 模型：Deepseek-flash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01631" y="6428232"/>
            <a:ext cx="4423135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98781"/>
                </a:solidFill>
                <a:latin typeface="Microsoft YaHei"/>
                <a:ea typeface="Microsoft YaHei"/>
                <a:cs typeface="Microsoft YaHe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A78D6"/>
                </a:solidFill>
                <a:latin typeface="Microsoft YaHei"/>
                <a:ea typeface="Microsoft YaHei"/>
                <a:cs typeface="Microsoft YaHei"/>
              </a:rPr>
              <a:t>03 顺位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03504"/>
            <a:ext cx="11057839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B0B0B"/>
                </a:solidFill>
                <a:latin typeface="Microsoft YaHei"/>
                <a:ea typeface="Microsoft YaHei"/>
                <a:cs typeface="Microsoft YaHei"/>
              </a:rPr>
              <a:t>逐家私营：不同竞拍价 → 不同结局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33856"/>
            <a:ext cx="841248" cy="5029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43584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2514E"/>
                </a:solidFill>
                <a:latin typeface="Microsoft YaHei"/>
                <a:ea typeface="Microsoft YaHei"/>
                <a:cs typeface="Microsoft YaHei"/>
              </a:rPr>
              <a:t>低档 = 中位数以下；高档 = p75 以上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1645920"/>
          <a:ext cx="11057836" cy="310896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336163"/>
                <a:gridCol w="2024674"/>
                <a:gridCol w="1401697"/>
                <a:gridCol w="2024674"/>
                <a:gridCol w="3270628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私营公司</a:t>
                      </a:r>
                    </a:p>
                  </a:txBody>
                  <a:tcPr marL="64008" marR="64008" marT="13716" marB="13716" anchor="ctr">
                    <a:solidFill>
                      <a:srgbClr val="0B0B0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低档前二率</a:t>
                      </a:r>
                    </a:p>
                  </a:txBody>
                  <a:tcPr marL="64008" marR="64008" marT="13716" marB="13716" anchor="ctr">
                    <a:solidFill>
                      <a:srgbClr val="0B0B0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中档</a:t>
                      </a:r>
                    </a:p>
                  </a:txBody>
                  <a:tcPr marL="64008" marR="64008" marT="13716" marB="13716" anchor="ctr">
                    <a:solidFill>
                      <a:srgbClr val="0B0B0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高档</a:t>
                      </a:r>
                    </a:p>
                  </a:txBody>
                  <a:tcPr marL="64008" marR="64008" marT="13716" marB="13716" anchor="ctr">
                    <a:solidFill>
                      <a:srgbClr val="0B0B0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趋势</a:t>
                      </a:r>
                    </a:p>
                  </a:txBody>
                  <a:tcPr marL="64008" marR="64008" marT="13716" marB="13716" anchor="ctr">
                    <a:solidFill>
                      <a:srgbClr val="0B0B0B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P0 吴淞铁路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60.9%（n=233）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40.4%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23.2%（n=56）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加价越高越差，跨度 38pp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P2 烟大轮渡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56.8%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37.5%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33.9%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单调下降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P3 台湾西部线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60.3%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61.0%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55.6%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全程高位——怎么买都不亏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P4 内河轮渡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52.2%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28.6%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34.4%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低价明显更好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P5 詹天佑事务所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36.8%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44.0%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45.0%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唯一「越贵越好」，但全程 &lt;46%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P6 清帝国政府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56.5%（n=214）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49.1%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32.3%（n=65）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跨度 24pp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P7 中国火箭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53.3%（n=210）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45.6%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27.4%（n=62）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跨度 26pp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566928" y="4590288"/>
            <a:ext cx="11057839" cy="658368"/>
          </a:xfrm>
          <a:prstGeom prst="rect">
            <a:avLst/>
          </a:prstGeom>
          <a:solidFill>
            <a:srgbClr val="F2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4590288"/>
            <a:ext cx="50292" cy="65836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4590288"/>
            <a:ext cx="10618927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2A78D6"/>
                </a:solidFill>
                <a:latin typeface="Microsoft YaHei"/>
                <a:ea typeface="Microsoft YaHei"/>
                <a:cs typeface="Microsoft YaHei"/>
              </a:rPr>
              <a:t>高手情况：</a:t>
            </a:r>
            <a:r>
              <a:rPr sz="1200" b="0" i="0">
                <a:solidFill>
                  <a:srgbClr val="0B0B0B"/>
                </a:solidFill>
                <a:latin typeface="Microsoft YaHei"/>
                <a:ea typeface="Microsoft YaHei"/>
                <a:cs typeface="Microsoft YaHei"/>
              </a:rPr>
              <a:t>TOP 玩家的出价与全体几乎一致（P6 +48 vs +45、P7 +40 vs +45、P5 +20 vs +25）——高手不是靠出价更狠，而是靠「在正确价位收手」。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6428232"/>
            <a:ext cx="663470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98781"/>
                </a:solidFill>
                <a:latin typeface="Microsoft YaHei"/>
                <a:ea typeface="Microsoft YaHei"/>
                <a:cs typeface="Microsoft YaHei"/>
              </a:rPr>
              <a:t>数据：18xx.games ｜ 分析：Pig9013 ｜ 模型：Deepseek-flash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01631" y="6428232"/>
            <a:ext cx="4423135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98781"/>
                </a:solidFill>
                <a:latin typeface="Microsoft YaHei"/>
                <a:ea typeface="Microsoft YaHei"/>
                <a:cs typeface="Microsoft YaHe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A78D6"/>
                </a:solidFill>
                <a:latin typeface="Microsoft YaHei"/>
                <a:ea typeface="Microsoft YaHei"/>
                <a:cs typeface="Microsoft YaHei"/>
              </a:rPr>
              <a:t>03 顺位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03504"/>
            <a:ext cx="11057839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B0B0B"/>
                </a:solidFill>
                <a:latin typeface="Microsoft YaHei"/>
                <a:ea typeface="Microsoft YaHei"/>
                <a:cs typeface="Microsoft YaHei"/>
              </a:rPr>
              <a:t>首口价：按面值开口是常态，但开了口就一定会被加价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33856"/>
            <a:ext cx="841248" cy="5029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627632"/>
          <a:ext cx="11057836" cy="259689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640677"/>
                <a:gridCol w="990254"/>
                <a:gridCol w="1650423"/>
                <a:gridCol w="1650423"/>
                <a:gridCol w="2310593"/>
                <a:gridCol w="1815466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私营公司</a:t>
                      </a:r>
                    </a:p>
                  </a:txBody>
                  <a:tcPr marL="64008" marR="64008" marT="13716" marB="13716" anchor="ctr">
                    <a:solidFill>
                      <a:srgbClr val="0B0B0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面值</a:t>
                      </a:r>
                    </a:p>
                  </a:txBody>
                  <a:tcPr marL="64008" marR="64008" marT="13716" marB="13716" anchor="ctr">
                    <a:solidFill>
                      <a:srgbClr val="0B0B0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首口 = 面值</a:t>
                      </a:r>
                    </a:p>
                  </a:txBody>
                  <a:tcPr marL="64008" marR="64008" marT="13716" marB="13716" anchor="ctr">
                    <a:solidFill>
                      <a:srgbClr val="0B0B0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首口 &gt; 面值</a:t>
                      </a:r>
                    </a:p>
                  </a:txBody>
                  <a:tcPr marL="64008" marR="64008" marT="13716" marB="13716" anchor="ctr">
                    <a:solidFill>
                      <a:srgbClr val="0B0B0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首口最高</a:t>
                      </a:r>
                    </a:p>
                  </a:txBody>
                  <a:tcPr marL="64008" marR="64008" marT="13716" marB="13716" anchor="ctr">
                    <a:solidFill>
                      <a:srgbClr val="0B0B0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成交 ÷ 首口</a:t>
                      </a:r>
                    </a:p>
                  </a:txBody>
                  <a:tcPr marL="64008" marR="64008" marT="13716" marB="13716" anchor="ctr">
                    <a:solidFill>
                      <a:srgbClr val="0B0B0B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P0 吴淞铁路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54.3%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45.7%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¥40（面的 8 倍）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3.00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P1 开平铁路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64.7%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35.3%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¥30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1.50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P2 烟大轮渡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25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56.3%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43.7%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¥70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1.60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P4 内河轮渡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70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66.3%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33.7%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¥110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1.29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P5 詹天佑事务所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100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76.2%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23.8%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¥150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1.25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P6 清帝国政府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160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66.9%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33.1%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¥215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1.25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P7 中国火箭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50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66.6%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33.4%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¥115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1.70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566928" y="4233672"/>
            <a:ext cx="41148" cy="5120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4206240"/>
            <a:ext cx="1087495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0B0B0B"/>
                </a:solidFill>
                <a:latin typeface="Microsoft YaHei"/>
                <a:ea typeface="Microsoft YaHei"/>
                <a:cs typeface="Microsoft YaHei"/>
              </a:rPr>
              <a:t>首口 = 面值的场次里，最终仍以面值成交的只有 0%–4.5%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52514E"/>
                </a:solidFill>
                <a:latin typeface="Microsoft YaHei"/>
                <a:ea typeface="Microsoft YaHei"/>
                <a:cs typeface="Microsoft YaHei"/>
              </a:rPr>
              <a:t>P0 是 0.0%、P7 是 0.4%、P2 是 0.5%——只要有人开口，这张牌就必然被抬价。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4965192"/>
            <a:ext cx="41148" cy="5120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4937759"/>
            <a:ext cx="1087495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0B0B0B"/>
                </a:solidFill>
                <a:latin typeface="Microsoft YaHei"/>
                <a:ea typeface="Microsoft YaHei"/>
                <a:cs typeface="Microsoft YaHei"/>
              </a:rPr>
              <a:t>「跳价」能压制后续加价，但最终价更高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52514E"/>
                </a:solidFill>
                <a:latin typeface="Microsoft YaHei"/>
                <a:ea typeface="Microsoft YaHei"/>
                <a:cs typeface="Microsoft YaHei"/>
              </a:rPr>
              <a:t>首口 &gt; 面值+20 的场次，后续加价中位只有 +¥8（按面值开口是 +¥25），但最终竞拍价中位 +¥40 &gt; +¥25。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6428232"/>
            <a:ext cx="663470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98781"/>
                </a:solidFill>
                <a:latin typeface="Microsoft YaHei"/>
                <a:ea typeface="Microsoft YaHei"/>
                <a:cs typeface="Microsoft YaHei"/>
              </a:rPr>
              <a:t>数据：18xx.games ｜ 分析：Pig9013 ｜ 模型：Deepseek-flash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01631" y="6428232"/>
            <a:ext cx="4423135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98781"/>
                </a:solidFill>
                <a:latin typeface="Microsoft YaHei"/>
                <a:ea typeface="Microsoft YaHei"/>
                <a:cs typeface="Microsoft YaHe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A78D6"/>
                </a:solidFill>
                <a:latin typeface="Microsoft YaHei"/>
                <a:ea typeface="Microsoft YaHei"/>
                <a:cs typeface="Microsoft YaHei"/>
              </a:rPr>
              <a:t>03 顺位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03504"/>
            <a:ext cx="11057839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B0B0B"/>
                </a:solidFill>
                <a:latin typeface="Microsoft YaHei"/>
                <a:ea typeface="Microsoft YaHei"/>
                <a:cs typeface="Microsoft YaHei"/>
              </a:rPr>
              <a:t>私营公司的搭配：能力 → 走廊 → 投资者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33856"/>
            <a:ext cx="841248" cy="5029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43584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2514E"/>
                </a:solidFill>
                <a:latin typeface="Microsoft YaHei"/>
                <a:ea typeface="Microsoft YaHei"/>
                <a:cs typeface="Microsoft YaHei"/>
              </a:rPr>
              <a:t>Lift = 实际占比 ÷ 全体基线占比；&gt;1.5 视为强关联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1645920"/>
          <a:ext cx="11057838" cy="270662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680688"/>
                <a:gridCol w="4523661"/>
                <a:gridCol w="3853489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私营公司</a:t>
                      </a:r>
                    </a:p>
                  </a:txBody>
                  <a:tcPr marL="64008" marR="64008" marT="13716" marB="13716" anchor="ctr">
                    <a:solidFill>
                      <a:srgbClr val="0B0B0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→ 主要公司（×Lift）</a:t>
                      </a:r>
                    </a:p>
                  </a:txBody>
                  <a:tcPr marL="64008" marR="64008" marT="13716" marB="13716" anchor="ctr">
                    <a:solidFill>
                      <a:srgbClr val="0B0B0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→ 外国投资者（×Lift）</a:t>
                      </a:r>
                    </a:p>
                  </a:txBody>
                  <a:tcPr marL="64008" marR="64008" marT="13716" marB="13716" anchor="ctr">
                    <a:solidFill>
                      <a:srgbClr val="0B0B0B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P6 清帝国政府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BCR 33%（×3.91）、CKR 15%（×1.97）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法资 71%（×3.44）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P3 台湾西部线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HKR 18%（×2.10）、SCR 13%（×1.80）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英资 49%（×2.89）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P2 烟大轮渡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HKR 12%（×1.50）、QSR 10%（×1.39）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日资 17%（×2.34）、德资 25%（×1.90）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P7 中国火箭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JHU 13%（×1.56）、JHA 12%（×1.46）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德资 20%（×1.54）、俄资 18%（×1.44）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P5 詹天佑事务所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JHA 11%（×1.29）、BZU 9%（×1.33）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俄资 19%（×1.56）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P0 吴淞铁路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NJR 10%（×1.21）、JLR 10%（×1.22）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无显著偏好（Lift ≈ 1.0）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566928" y="4718304"/>
            <a:ext cx="11057839" cy="658368"/>
          </a:xfrm>
          <a:prstGeom prst="rect">
            <a:avLst/>
          </a:prstGeom>
          <a:solidFill>
            <a:srgbClr val="F2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4718304"/>
            <a:ext cx="50292" cy="65836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4718304"/>
            <a:ext cx="10618927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2A78D6"/>
                </a:solidFill>
                <a:latin typeface="Microsoft YaHei"/>
                <a:ea typeface="Microsoft YaHei"/>
                <a:cs typeface="Microsoft YaHei"/>
              </a:rPr>
              <a:t>结论：</a:t>
            </a:r>
            <a:r>
              <a:rPr sz="1200" b="0" i="0">
                <a:solidFill>
                  <a:srgbClr val="0B0B0B"/>
                </a:solidFill>
                <a:latin typeface="Microsoft YaHei"/>
                <a:ea typeface="Microsoft YaHei"/>
                <a:cs typeface="Microsoft YaHei"/>
              </a:rPr>
              <a:t>私营能力 → 决定买主往哪条走廊扩张 → 决定他配哪个投资者。这不是随机选择，而是一条被地图拓扑锁定的链条（与车站落点完全一致，见第七章）。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6428232"/>
            <a:ext cx="663470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98781"/>
                </a:solidFill>
                <a:latin typeface="Microsoft YaHei"/>
                <a:ea typeface="Microsoft YaHei"/>
                <a:cs typeface="Microsoft YaHei"/>
              </a:rPr>
              <a:t>数据：18xx.games ｜ 分析：Pig9013 ｜ 模型：Deepseek-flash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01631" y="6428232"/>
            <a:ext cx="4423135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98781"/>
                </a:solidFill>
                <a:latin typeface="Microsoft YaHei"/>
                <a:ea typeface="Microsoft YaHei"/>
                <a:cs typeface="Microsoft YaHe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34440" y="2103120"/>
            <a:ext cx="100584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400" b="1" i="0">
                <a:solidFill>
                  <a:srgbClr val="2A78D6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310896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0B0B0B"/>
                </a:solidFill>
                <a:latin typeface="Microsoft YaHei"/>
                <a:ea typeface="Microsoft YaHei"/>
                <a:cs typeface="Microsoft YaHei"/>
              </a:rPr>
              <a:t>外国投资者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3913632"/>
            <a:ext cx="9144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52514E"/>
                </a:solidFill>
                <a:latin typeface="Microsoft YaHei"/>
                <a:ea typeface="Microsoft YaHei"/>
                <a:cs typeface="Microsoft YaHei"/>
              </a:rPr>
              <a:t>8 家私营全部拍完之后，才按「钱最少者优先」的新座次依次挑选。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28232"/>
            <a:ext cx="663470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98781"/>
                </a:solidFill>
                <a:latin typeface="Microsoft YaHei"/>
                <a:ea typeface="Microsoft YaHei"/>
                <a:cs typeface="Microsoft YaHei"/>
              </a:rPr>
              <a:t>数据：18xx.games ｜ 分析：Pig9013 ｜ 模型：Deepseek-flash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01631" y="6428232"/>
            <a:ext cx="4423135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98781"/>
                </a:solidFill>
                <a:latin typeface="Microsoft YaHei"/>
                <a:ea typeface="Microsoft YaHei"/>
                <a:cs typeface="Microsoft YaHe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A78D6"/>
                </a:solidFill>
                <a:latin typeface="Microsoft YaHei"/>
                <a:ea typeface="Microsoft YaHei"/>
                <a:cs typeface="Microsoft YaHei"/>
              </a:rPr>
              <a:t>04 投资者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03504"/>
            <a:ext cx="11057839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B0B0B"/>
                </a:solidFill>
                <a:latin typeface="Microsoft YaHei"/>
                <a:ea typeface="Microsoft YaHei"/>
                <a:cs typeface="Microsoft YaHei"/>
              </a:rPr>
              <a:t>时序：拍完再选（341/341），链条是「花钱排名 → 顺位」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33856"/>
            <a:ext cx="841248" cy="5029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43584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2514E"/>
                </a:solidFill>
                <a:latin typeface="Microsoft YaHei"/>
                <a:ea typeface="Microsoft YaHei"/>
                <a:cs typeface="Microsoft YaHei"/>
              </a:rPr>
              <a:t>日志里 Priority order 行永远出现在最后一次拍卖之后；341 局中选秀顺序与它完全一致，零例外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1700784"/>
          <a:ext cx="11057837" cy="221284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145550"/>
                <a:gridCol w="3300847"/>
                <a:gridCol w="3630932"/>
                <a:gridCol w="1980508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选秀顺位</a:t>
                      </a:r>
                    </a:p>
                  </a:txBody>
                  <a:tcPr marL="64008" marR="64008" marT="13716" marB="13716" anchor="ctr">
                    <a:solidFill>
                      <a:srgbClr val="0B0B0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该顺位玩家的私营支出中位</a:t>
                      </a:r>
                    </a:p>
                  </a:txBody>
                  <a:tcPr marL="64008" marR="64008" marT="13716" marB="13716" anchor="ctr">
                    <a:solidFill>
                      <a:srgbClr val="0B0B0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最常拿到的投资者</a:t>
                      </a:r>
                    </a:p>
                  </a:txBody>
                  <a:tcPr marL="64008" marR="64008" marT="13716" marB="13716" anchor="ctr">
                    <a:solidFill>
                      <a:srgbClr val="0B0B0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前二率</a:t>
                      </a:r>
                    </a:p>
                  </a:txBody>
                  <a:tcPr marL="64008" marR="64008" marT="13716" marB="13716" anchor="ctr">
                    <a:solidFill>
                      <a:srgbClr val="0B0B0B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第 1 顺位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¥295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法资 65%、葡资 14%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51.0%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第 2 顺位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¥190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英资 24%、葡资 23%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45.2%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第 3 顺位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¥130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英资 22%、俄资 18%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46.3%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第 4 顺位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¥82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葡资 22%、英资 20%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42.5%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第 5–7 顺位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¥25 / ¥18 / ¥0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日资、俄资、德资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—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566928" y="4206240"/>
            <a:ext cx="11057839" cy="658368"/>
          </a:xfrm>
          <a:prstGeom prst="rect">
            <a:avLst/>
          </a:prstGeom>
          <a:solidFill>
            <a:srgbClr val="F2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4206240"/>
            <a:ext cx="50292" cy="65836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4206240"/>
            <a:ext cx="10618927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78D6"/>
                </a:solidFill>
                <a:latin typeface="Microsoft YaHei"/>
                <a:ea typeface="Microsoft YaHei"/>
                <a:cs typeface="Microsoft YaHei"/>
              </a:rPr>
              <a:t>机制链条：</a:t>
            </a:r>
            <a:r>
              <a:rPr sz="1350" b="0" i="0">
                <a:solidFill>
                  <a:srgbClr val="0B0B0B"/>
                </a:solidFill>
                <a:latin typeface="Microsoft YaHei"/>
                <a:ea typeface="Microsoft YaHei"/>
                <a:cs typeface="Microsoft YaHei"/>
              </a:rPr>
              <a:t>私营花得多 → 剩钱少 → 顺位靠前。这就是「多花在私营上的钱」在机制上的真实回报——买的不是私营公司本身，而是选投资者的优先权。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6428232"/>
            <a:ext cx="663470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98781"/>
                </a:solidFill>
                <a:latin typeface="Microsoft YaHei"/>
                <a:ea typeface="Microsoft YaHei"/>
                <a:cs typeface="Microsoft YaHei"/>
              </a:rPr>
              <a:t>数据：18xx.games ｜ 分析：Pig9013 ｜ 模型：Deepseek-flash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01631" y="6428232"/>
            <a:ext cx="4423135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98781"/>
                </a:solidFill>
                <a:latin typeface="Microsoft YaHei"/>
                <a:ea typeface="Microsoft YaHei"/>
                <a:cs typeface="Microsoft YaHe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A78D6"/>
                </a:solidFill>
                <a:latin typeface="Microsoft YaHei"/>
                <a:ea typeface="Microsoft YaHei"/>
                <a:cs typeface="Microsoft YaHei"/>
              </a:rPr>
              <a:t>04 投资者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03504"/>
            <a:ext cx="11057839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B0B0B"/>
                </a:solidFill>
                <a:latin typeface="Microsoft YaHei"/>
                <a:ea typeface="Microsoft YaHei"/>
                <a:cs typeface="Microsoft YaHei"/>
              </a:rPr>
              <a:t>拿到的投资者 → 选择者的结局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33856"/>
            <a:ext cx="841248" cy="5029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43584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2514E"/>
                </a:solidFill>
                <a:latin typeface="Microsoft YaHei"/>
                <a:ea typeface="Microsoft YaHei"/>
                <a:cs typeface="Microsoft YaHei"/>
              </a:rPr>
              <a:t>葡/英/法明显好于俄/德/比/日</a:t>
            </a:r>
          </a:p>
        </p:txBody>
      </p:sp>
      <p:pic>
        <p:nvPicPr>
          <p:cNvPr id="7" name="Picture 6" descr="priv_inv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15343" y="1554480"/>
            <a:ext cx="6961008" cy="2286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66928" y="4014216"/>
            <a:ext cx="41148" cy="74980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3986784"/>
            <a:ext cx="10874959" cy="804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0B0B0B"/>
                </a:solidFill>
                <a:latin typeface="Microsoft YaHei"/>
                <a:ea typeface="Microsoft YaHei"/>
                <a:cs typeface="Microsoft YaHei"/>
              </a:rPr>
              <a:t>为什么是葡/英/法？母基地在东南沿海（澳门、香港、法属印度支那）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52514E"/>
                </a:solidFill>
                <a:latin typeface="Microsoft YaHei"/>
                <a:ea typeface="Microsoft YaHei"/>
                <a:cs typeface="Microsoft YaHei"/>
              </a:rPr>
              <a:t>这一带是沪昆线（HKR 上海）与南江（NJR 南京）的必经之路——投资者最快能与公司连成联合路网、触发合并（金库转账 + ¥50 奖励 + 10% 股份）。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52514E"/>
                </a:solidFill>
                <a:latin typeface="Microsoft YaHei"/>
                <a:ea typeface="Microsoft YaHei"/>
                <a:cs typeface="Microsoft YaHei"/>
              </a:rPr>
              <a:t>日资（大连）与比资（太原）位置偏北/内陆，连通慢。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4983480"/>
            <a:ext cx="41148" cy="5120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4956048"/>
            <a:ext cx="1087495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0B0B0B"/>
                </a:solidFill>
                <a:latin typeface="Microsoft YaHei"/>
                <a:ea typeface="Microsoft YaHei"/>
                <a:cs typeface="Microsoft YaHei"/>
              </a:rPr>
              <a:t>但要标注因果纠缠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52514E"/>
                </a:solidFill>
                <a:latin typeface="Microsoft YaHei"/>
                <a:ea typeface="Microsoft YaHei"/>
                <a:cs typeface="Microsoft YaHei"/>
              </a:rPr>
              <a:t>拿到葡/英/法的人结局好，一部分是因为他们本来就是「花大钱买私营的人」——两条因果链交织，不能只算一边。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28232"/>
            <a:ext cx="663470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98781"/>
                </a:solidFill>
                <a:latin typeface="Microsoft YaHei"/>
                <a:ea typeface="Microsoft YaHei"/>
                <a:cs typeface="Microsoft YaHei"/>
              </a:rPr>
              <a:t>数据：18xx.games ｜ 分析：Pig9013 ｜ 模型：Deepseek-flash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01631" y="6428232"/>
            <a:ext cx="4423135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98781"/>
                </a:solidFill>
                <a:latin typeface="Microsoft YaHei"/>
                <a:ea typeface="Microsoft YaHei"/>
                <a:cs typeface="Microsoft YaHe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A78D6"/>
                </a:solidFill>
                <a:latin typeface="Microsoft YaHei"/>
                <a:ea typeface="Microsoft YaHei"/>
                <a:cs typeface="Microsoft YaHei"/>
              </a:rPr>
              <a:t>04 投资者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03504"/>
            <a:ext cx="11057839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B0B0B"/>
                </a:solidFill>
                <a:latin typeface="Microsoft YaHei"/>
                <a:ea typeface="Microsoft YaHei"/>
                <a:cs typeface="Microsoft YaHei"/>
              </a:rPr>
              <a:t>投资者 × 关联公司（合并去向）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33856"/>
            <a:ext cx="841248" cy="5029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43584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2514E"/>
                </a:solidFill>
                <a:latin typeface="Microsoft YaHei"/>
                <a:ea typeface="Microsoft YaHei"/>
                <a:cs typeface="Microsoft YaHei"/>
              </a:rPr>
              <a:t>投资者 99.4%–100% 都会在游戏结束前合并进来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1664208"/>
          <a:ext cx="11057836" cy="259689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024674"/>
                <a:gridCol w="2647651"/>
                <a:gridCol w="2647651"/>
                <a:gridCol w="1245953"/>
                <a:gridCol w="2491907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投资者</a:t>
                      </a:r>
                    </a:p>
                  </a:txBody>
                  <a:tcPr marL="64008" marR="64008" marT="13716" marB="13716" anchor="ctr">
                    <a:solidFill>
                      <a:srgbClr val="0B0B0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母基地</a:t>
                      </a:r>
                    </a:p>
                  </a:txBody>
                  <a:tcPr marL="64008" marR="64008" marT="13716" marB="13716" anchor="ctr">
                    <a:solidFill>
                      <a:srgbClr val="0B0B0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最常合并的公司</a:t>
                      </a:r>
                    </a:p>
                  </a:txBody>
                  <a:tcPr marL="64008" marR="64008" marT="13716" marB="13716" anchor="ctr">
                    <a:solidFill>
                      <a:srgbClr val="0B0B0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次数</a:t>
                      </a:r>
                    </a:p>
                  </a:txBody>
                  <a:tcPr marL="64008" marR="64008" marT="13716" marB="13716" anchor="ctr">
                    <a:solidFill>
                      <a:srgbClr val="0B0B0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备注</a:t>
                      </a:r>
                    </a:p>
                  </a:txBody>
                  <a:tcPr marL="64008" marR="64008" marT="13716" marB="13716" anchor="ctr">
                    <a:solidFill>
                      <a:srgbClr val="0B0B0B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French 法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法属印度支那 Q7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BCR（成都）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243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79% 的法资都并入 BCR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British 英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香港 Q15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HKR（上海）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114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东南沿海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Russian 俄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俄国 A3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JHA（北京）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96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北方走廊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Portuguese 葡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澳门 P12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HKR（上海）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84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东南沿海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German 德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青岛 H14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JHU（北京）/ HKR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67 / 61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—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Belgian 比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太原 H6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JGG（北京）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53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—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566928" y="4626864"/>
            <a:ext cx="11057839" cy="658368"/>
          </a:xfrm>
          <a:prstGeom prst="rect">
            <a:avLst/>
          </a:prstGeom>
          <a:solidFill>
            <a:srgbClr val="F2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4626864"/>
            <a:ext cx="50292" cy="65836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4626864"/>
            <a:ext cx="10618927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2A78D6"/>
                </a:solidFill>
                <a:latin typeface="Microsoft YaHei"/>
                <a:ea typeface="Microsoft YaHei"/>
                <a:cs typeface="Microsoft YaHei"/>
              </a:rPr>
              <a:t>合并经济账：</a:t>
            </a:r>
            <a:r>
              <a:rPr sz="1200" b="0" i="0">
                <a:solidFill>
                  <a:srgbClr val="0B0B0B"/>
                </a:solidFill>
                <a:latin typeface="Microsoft YaHei"/>
                <a:ea typeface="Microsoft YaHei"/>
                <a:cs typeface="Microsoft YaHei"/>
              </a:rPr>
              <a:t>合并时选「全额转给公司」的占 95.2%（1413 次）——投资者金库本来就只有几个留存收入，拿 20% 的中位只有 ¥40。默认选项永远是正确的。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6428232"/>
            <a:ext cx="663470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98781"/>
                </a:solidFill>
                <a:latin typeface="Microsoft YaHei"/>
                <a:ea typeface="Microsoft YaHei"/>
                <a:cs typeface="Microsoft YaHei"/>
              </a:rPr>
              <a:t>数据：18xx.games ｜ 分析：Pig9013 ｜ 模型：Deepseek-flash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01631" y="6428232"/>
            <a:ext cx="4423135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98781"/>
                </a:solidFill>
                <a:latin typeface="Microsoft YaHei"/>
                <a:ea typeface="Microsoft YaHei"/>
                <a:cs typeface="Microsoft YaHe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A78D6"/>
                </a:solidFill>
                <a:latin typeface="Microsoft YaHei"/>
                <a:ea typeface="Microsoft YaHei"/>
                <a:cs typeface="Microsoft YaHei"/>
              </a:rPr>
              <a:t>04 投资者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03504"/>
            <a:ext cx="11057839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B0B0B"/>
                </a:solidFill>
                <a:latin typeface="Microsoft YaHei"/>
                <a:ea typeface="Microsoft YaHei"/>
                <a:cs typeface="Microsoft YaHei"/>
              </a:rPr>
              <a:t>P6 → BCR：341 局零例外的锁定组合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33856"/>
            <a:ext cx="841248" cy="5029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43584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2514E"/>
                </a:solidFill>
                <a:latin typeface="Microsoft YaHei"/>
                <a:ea typeface="Microsoft YaHei"/>
                <a:cs typeface="Microsoft YaHei"/>
              </a:rPr>
              <a:t>P6 的规则能力就是「获得 BCR 的 20% 董事证书」，起始价自动设 100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700784"/>
            <a:ext cx="2613583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1700784"/>
            <a:ext cx="2613583" cy="5029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1920240"/>
            <a:ext cx="2247823" cy="10881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400" b="1" i="0">
                <a:solidFill>
                  <a:srgbClr val="0B0B0B"/>
                </a:solidFill>
                <a:latin typeface="Microsoft YaHei"/>
                <a:ea typeface="Microsoft YaHei"/>
                <a:cs typeface="Microsoft YaHei"/>
              </a:rPr>
              <a:t>100%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2514E"/>
                </a:solidFill>
                <a:latin typeface="Microsoft YaHei"/>
                <a:ea typeface="Microsoft YaHei"/>
                <a:cs typeface="Microsoft YaHei"/>
              </a:rPr>
              <a:t>P6 买家自任 BCR 董事长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898781"/>
                </a:solidFill>
                <a:latin typeface="Microsoft YaHei"/>
                <a:ea typeface="Microsoft YaHei"/>
                <a:cs typeface="Microsoft YaHei"/>
              </a:rPr>
              <a:t>341/341 局，没有任何一局把证书让出去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81679" y="1700784"/>
            <a:ext cx="2613583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381679" y="1700784"/>
            <a:ext cx="2613583" cy="5029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64559" y="1920240"/>
            <a:ext cx="2247823" cy="10881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400" b="1" i="0">
                <a:solidFill>
                  <a:srgbClr val="0B0B0B"/>
                </a:solidFill>
                <a:latin typeface="Microsoft YaHei"/>
                <a:ea typeface="Microsoft YaHei"/>
                <a:cs typeface="Microsoft YaHei"/>
              </a:rPr>
              <a:t>71%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2514E"/>
                </a:solidFill>
                <a:latin typeface="Microsoft YaHei"/>
                <a:ea typeface="Microsoft YaHei"/>
                <a:cs typeface="Microsoft YaHei"/>
              </a:rPr>
              <a:t>P6 买家选法资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898781"/>
                </a:solidFill>
                <a:latin typeface="Microsoft YaHei"/>
                <a:ea typeface="Microsoft YaHei"/>
                <a:cs typeface="Microsoft YaHei"/>
              </a:rPr>
              <a:t>因为法资是唯一能快速连到成都的投资者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96431" y="1700784"/>
            <a:ext cx="2613583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96431" y="1700784"/>
            <a:ext cx="2613583" cy="5029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79311" y="1920240"/>
            <a:ext cx="2247823" cy="10881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400" b="1" i="0">
                <a:solidFill>
                  <a:srgbClr val="0B0B0B"/>
                </a:solidFill>
                <a:latin typeface="Microsoft YaHei"/>
                <a:ea typeface="Microsoft YaHei"/>
                <a:cs typeface="Microsoft YaHei"/>
              </a:rPr>
              <a:t>¥205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2514E"/>
                </a:solidFill>
                <a:latin typeface="Microsoft YaHei"/>
                <a:ea typeface="Microsoft YaHei"/>
                <a:cs typeface="Microsoft YaHei"/>
              </a:rPr>
              <a:t>P6 成交中位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898781"/>
                </a:solidFill>
                <a:latin typeface="Microsoft YaHei"/>
                <a:ea typeface="Microsoft YaHei"/>
                <a:cs typeface="Microsoft YaHei"/>
              </a:rPr>
              <a:t>而 BCR 一份 20% 证书在 SR1 直接买要 ¥200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011183" y="1700784"/>
            <a:ext cx="2613583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011183" y="1700784"/>
            <a:ext cx="2613583" cy="5029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94063" y="1920240"/>
            <a:ext cx="2247823" cy="10881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400" b="1" i="0">
                <a:solidFill>
                  <a:srgbClr val="0B0B0B"/>
                </a:solidFill>
                <a:latin typeface="Microsoft YaHei"/>
                <a:ea typeface="Microsoft YaHei"/>
                <a:cs typeface="Microsoft YaHei"/>
              </a:rPr>
              <a:t>51.0%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2514E"/>
                </a:solidFill>
                <a:latin typeface="Microsoft YaHei"/>
                <a:ea typeface="Microsoft YaHei"/>
                <a:cs typeface="Microsoft YaHei"/>
              </a:rPr>
              <a:t>P6 拥有者的前二率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898781"/>
                </a:solidFill>
                <a:latin typeface="Microsoft YaHei"/>
                <a:ea typeface="Microsoft YaHei"/>
                <a:cs typeface="Microsoft YaHei"/>
              </a:rPr>
              <a:t>略高于基线 46.0%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3529584"/>
            <a:ext cx="11057839" cy="658368"/>
          </a:xfrm>
          <a:prstGeom prst="rect">
            <a:avLst/>
          </a:prstGeom>
          <a:solidFill>
            <a:srgbClr val="F2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6928" y="3529584"/>
            <a:ext cx="50292" cy="65836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86384" y="3529584"/>
            <a:ext cx="10618927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78D6"/>
                </a:solidFill>
                <a:latin typeface="Microsoft YaHei"/>
                <a:ea typeface="Microsoft YaHei"/>
                <a:cs typeface="Microsoft YaHei"/>
              </a:rPr>
              <a:t>给玩家的结论：</a:t>
            </a:r>
            <a:r>
              <a:rPr sz="1350" b="0" i="0">
                <a:solidFill>
                  <a:srgbClr val="0B0B0B"/>
                </a:solidFill>
                <a:latin typeface="Microsoft YaHei"/>
                <a:ea typeface="Microsoft YaHei"/>
                <a:cs typeface="Microsoft YaHei"/>
              </a:rPr>
              <a:t>P6 ≈ 用自家现金买下 BCR 的启动权 + 独家垄断——这是全场最清楚的一笔划算交易。抢到 P6 就别犹豫，直接把 BCR 拿在自己手里。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428232"/>
            <a:ext cx="663470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98781"/>
                </a:solidFill>
                <a:latin typeface="Microsoft YaHei"/>
                <a:ea typeface="Microsoft YaHei"/>
                <a:cs typeface="Microsoft YaHei"/>
              </a:rPr>
              <a:t>数据：18xx.games ｜ 分析：Pig9013 ｜ 模型：Deepseek-flash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01631" y="6428232"/>
            <a:ext cx="4423135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98781"/>
                </a:solidFill>
                <a:latin typeface="Microsoft YaHei"/>
                <a:ea typeface="Microsoft YaHei"/>
                <a:cs typeface="Microsoft YaHe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34440" y="2103120"/>
            <a:ext cx="100584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400" b="1" i="0">
                <a:solidFill>
                  <a:srgbClr val="2A78D6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310896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0B0B0B"/>
                </a:solidFill>
                <a:latin typeface="Microsoft YaHei"/>
                <a:ea typeface="Microsoft YaHei"/>
                <a:cs typeface="Microsoft YaHei"/>
              </a:rPr>
              <a:t>主要公司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3913632"/>
            <a:ext cx="9144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52514E"/>
                </a:solidFill>
                <a:latin typeface="Microsoft YaHei"/>
                <a:ea typeface="Microsoft YaHei"/>
                <a:cs typeface="Microsoft YaHei"/>
              </a:rPr>
              <a:t>开得越多、越早开对的公司，赢得越多——本作最单调的一条规律。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28232"/>
            <a:ext cx="663470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98781"/>
                </a:solidFill>
                <a:latin typeface="Microsoft YaHei"/>
                <a:ea typeface="Microsoft YaHei"/>
                <a:cs typeface="Microsoft YaHei"/>
              </a:rPr>
              <a:t>数据：18xx.games ｜ 分析：Pig9013 ｜ 模型：Deepseek-flash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01631" y="6428232"/>
            <a:ext cx="4423135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98781"/>
                </a:solidFill>
                <a:latin typeface="Microsoft YaHei"/>
                <a:ea typeface="Microsoft YaHei"/>
                <a:cs typeface="Microsoft YaHei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A78D6"/>
                </a:solidFill>
                <a:latin typeface="Microsoft YaHei"/>
                <a:ea typeface="Microsoft YaHei"/>
                <a:cs typeface="Microsoft YaHei"/>
              </a:rPr>
              <a:t>05 主要公司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03504"/>
            <a:ext cx="11057839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B0B0B"/>
                </a:solidFill>
                <a:latin typeface="Microsoft YaHei"/>
                <a:ea typeface="Microsoft YaHei"/>
                <a:cs typeface="Microsoft YaHei"/>
              </a:rPr>
              <a:t>出场率与热度：两家超级公司、两家死区公司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33856"/>
            <a:ext cx="841248" cy="5029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645920"/>
          <a:ext cx="11057837" cy="285292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842973"/>
                <a:gridCol w="1275904"/>
                <a:gridCol w="1275904"/>
                <a:gridCol w="1701206"/>
                <a:gridCol w="1417671"/>
                <a:gridCol w="1701206"/>
                <a:gridCol w="1842973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公司</a:t>
                      </a:r>
                    </a:p>
                  </a:txBody>
                  <a:tcPr marL="64008" marR="64008" marT="13716" marB="13716" anchor="ctr">
                    <a:solidFill>
                      <a:srgbClr val="0B0B0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母基地</a:t>
                      </a:r>
                    </a:p>
                  </a:txBody>
                  <a:tcPr marL="64008" marR="64008" marT="13716" marB="13716" anchor="ctr">
                    <a:solidFill>
                      <a:srgbClr val="0B0B0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出场率</a:t>
                      </a:r>
                    </a:p>
                  </a:txBody>
                  <a:tcPr marL="64008" marR="64008" marT="13716" marB="13716" anchor="ctr">
                    <a:solidFill>
                      <a:srgbClr val="0B0B0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首个 SR 中位</a:t>
                      </a:r>
                    </a:p>
                  </a:txBody>
                  <a:tcPr marL="64008" marR="64008" marT="13716" marB="13716" anchor="ctr">
                    <a:solidFill>
                      <a:srgbClr val="0B0B0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SR1 开启率</a:t>
                      </a:r>
                    </a:p>
                  </a:txBody>
                  <a:tcPr marL="64008" marR="64008" marT="13716" marB="13716" anchor="ctr">
                    <a:solidFill>
                      <a:srgbClr val="0B0B0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终局股价中位</a:t>
                      </a:r>
                    </a:p>
                  </a:txBody>
                  <a:tcPr marL="64008" marR="64008" marT="13716" marB="13716" anchor="ctr">
                    <a:solidFill>
                      <a:srgbClr val="0B0B0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股息总额中位</a:t>
                      </a:r>
                    </a:p>
                  </a:txBody>
                  <a:tcPr marL="64008" marR="64008" marT="13716" marB="13716" anchor="ctr">
                    <a:solidFill>
                      <a:srgbClr val="0B0B0B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BCR 宝成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成都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100.0%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0（P6 自带）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—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200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¥4410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HKR 沪昆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上海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99.1%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89.9%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200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¥4470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JHU 京沪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北京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98.8%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68.9%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180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¥3840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JGG 京广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北京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98.5%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30.8%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115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¥2305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BZU 滨洲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哈尔滨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78.0%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18.5%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105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¥1775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NXR 宁西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西安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43.1%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4.8%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100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¥1410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LHR 陇海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兰州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29.3%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4.0%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85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¥1080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566928" y="4626864"/>
            <a:ext cx="11057839" cy="658368"/>
          </a:xfrm>
          <a:prstGeom prst="rect">
            <a:avLst/>
          </a:prstGeom>
          <a:solidFill>
            <a:srgbClr val="F2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4626864"/>
            <a:ext cx="50292" cy="65836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" y="4626864"/>
            <a:ext cx="10618927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2A78D6"/>
                </a:solidFill>
                <a:latin typeface="Microsoft YaHei"/>
                <a:ea typeface="Microsoft YaHei"/>
                <a:cs typeface="Microsoft YaHei"/>
              </a:rPr>
              <a:t>读表：</a:t>
            </a:r>
            <a:r>
              <a:rPr sz="1200" b="0" i="0">
                <a:solidFill>
                  <a:srgbClr val="0B0B0B"/>
                </a:solidFill>
                <a:latin typeface="Microsoft YaHei"/>
                <a:ea typeface="Microsoft YaHei"/>
                <a:cs typeface="Microsoft YaHei"/>
              </a:rPr>
              <a:t>BCR 与 HKR 的终局股价中位 200（最低档 85 的 2.4 倍）、股息是 LHR 的 4 倍——这两家是全作的胜负手。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28232"/>
            <a:ext cx="663470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98781"/>
                </a:solidFill>
                <a:latin typeface="Microsoft YaHei"/>
                <a:ea typeface="Microsoft YaHei"/>
                <a:cs typeface="Microsoft YaHei"/>
              </a:rPr>
              <a:t>数据：18xx.games ｜ 分析：Pig9013 ｜ 模型：Deepseek-flash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01631" y="6428232"/>
            <a:ext cx="4423135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98781"/>
                </a:solidFill>
                <a:latin typeface="Microsoft YaHei"/>
                <a:ea typeface="Microsoft YaHei"/>
                <a:cs typeface="Microsoft YaHei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A78D6"/>
                </a:solidFill>
                <a:latin typeface="Microsoft YaHei"/>
                <a:ea typeface="Microsoft YaHei"/>
                <a:cs typeface="Microsoft YaHei"/>
              </a:rPr>
              <a:t>05 主要公司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03504"/>
            <a:ext cx="11057839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B0B0B"/>
                </a:solidFill>
                <a:latin typeface="Microsoft YaHei"/>
                <a:ea typeface="Microsoft YaHei"/>
                <a:cs typeface="Microsoft YaHei"/>
              </a:rPr>
              <a:t>董事长家数 → 前二率：全作最单调的一条规律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33856"/>
            <a:ext cx="841248" cy="5029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p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4246" y="1554480"/>
            <a:ext cx="6803202" cy="23774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66928" y="4105656"/>
            <a:ext cx="41148" cy="74980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4078224"/>
            <a:ext cx="10874959" cy="804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0B0B0B"/>
                </a:solidFill>
                <a:latin typeface="Microsoft YaHei"/>
                <a:ea typeface="Microsoft YaHei"/>
                <a:cs typeface="Microsoft YaHei"/>
              </a:rPr>
              <a:t>1 家 18.4% → 3 家 49.0% → 4 家 61.8% → 5 家 65.3%（跨度 47 个百分点）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52514E"/>
                </a:solidFill>
                <a:latin typeface="Microsoft YaHei"/>
                <a:ea typeface="Microsoft YaHei"/>
                <a:cs typeface="Microsoft YaHei"/>
              </a:rPr>
              <a:t>机制：董事长独占「派息 vs 留存」决策、独占公司金库（可向同董事长公司买车），并能以 par 价优先建仓自己的公司。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52514E"/>
                </a:solidFill>
                <a:latin typeface="Microsoft YaHei"/>
                <a:ea typeface="Microsoft YaHei"/>
                <a:cs typeface="Microsoft YaHei"/>
              </a:rPr>
              <a:t>因果警告：这条是双向的——领先的玩家本来就有钱开更多公司。但「开 3 家以上」的门槛是可以主动追求的。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5074920"/>
            <a:ext cx="41148" cy="5120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5047488"/>
            <a:ext cx="1087495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0B0B0B"/>
                </a:solidFill>
                <a:latin typeface="Microsoft YaHei"/>
                <a:ea typeface="Microsoft YaHei"/>
                <a:cs typeface="Microsoft YaHei"/>
              </a:rPr>
              <a:t>但要诚实标注反例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52514E"/>
                </a:solidFill>
                <a:latin typeface="Microsoft YaHei"/>
                <a:ea typeface="Microsoft YaHei"/>
                <a:cs typeface="Microsoft YaHei"/>
              </a:rPr>
              <a:t>只当 1 家公司仍有 18.4% 的前二率：1880-032、1880-043、1880-057 都是「集中持有 HKR/BCR 股份」的打法——这条路能走通，但只有 1/5 的人走通了。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6428232"/>
            <a:ext cx="663470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98781"/>
                </a:solidFill>
                <a:latin typeface="Microsoft YaHei"/>
                <a:ea typeface="Microsoft YaHei"/>
                <a:cs typeface="Microsoft YaHei"/>
              </a:rPr>
              <a:t>数据：18xx.games ｜ 分析：Pig9013 ｜ 模型：Deepseek-flash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01631" y="6428232"/>
            <a:ext cx="4423135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98781"/>
                </a:solidFill>
                <a:latin typeface="Microsoft YaHei"/>
                <a:ea typeface="Microsoft YaHei"/>
                <a:cs typeface="Microsoft YaHei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A78D6"/>
                </a:solidFill>
                <a:latin typeface="Microsoft YaHei"/>
                <a:ea typeface="Microsoft YaHei"/>
                <a:cs typeface="Microsoft YaHei"/>
              </a:rPr>
              <a:t>05 主要公司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03504"/>
            <a:ext cx="11057839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B0B0B"/>
                </a:solidFill>
                <a:latin typeface="Microsoft YaHei"/>
                <a:ea typeface="Microsoft YaHei"/>
                <a:cs typeface="Microsoft YaHei"/>
              </a:rPr>
              <a:t>SR1 该抢谁：HKR 一骑绝尘，JGG 是陷阱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33856"/>
            <a:ext cx="841248" cy="5029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43584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2514E"/>
                </a:solidFill>
                <a:latin typeface="Microsoft YaHei"/>
                <a:ea typeface="Microsoft YaHei"/>
                <a:cs typeface="Microsoft YaHei"/>
              </a:rPr>
              <a:t>BCR 除外（它由 P6 锁定）</a:t>
            </a:r>
          </a:p>
        </p:txBody>
      </p:sp>
      <p:pic>
        <p:nvPicPr>
          <p:cNvPr id="7" name="Picture 6" descr="sr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0896" y="1554480"/>
            <a:ext cx="7869901" cy="2651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66928" y="4379976"/>
            <a:ext cx="41148" cy="5120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4352544"/>
            <a:ext cx="1087495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0B0B0B"/>
                </a:solidFill>
                <a:latin typeface="Microsoft YaHei"/>
                <a:ea typeface="Microsoft YaHei"/>
                <a:cs typeface="Microsoft YaHei"/>
              </a:rPr>
              <a:t>HKR：89.1% 的对局被开，开路者的前二率 59.9%（高于基线 13.9pp）——本作最强的单点开局结论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52514E"/>
                </a:solidFill>
                <a:latin typeface="Microsoft YaHei"/>
                <a:ea typeface="Microsoft YaHei"/>
                <a:cs typeface="Microsoft YaHei"/>
              </a:rPr>
              <a:t>JHU/JHA/NJR/SCR/CKR 是「合格线」选择（42.9%–48.5%）；JGG 被开得多但只有 36.2%（北京四家互抢道，紫色最吃亏）。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5111496"/>
            <a:ext cx="41148" cy="5120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5084064"/>
            <a:ext cx="1087495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0B0B0B"/>
                </a:solidFill>
                <a:latin typeface="Microsoft YaHei"/>
                <a:ea typeface="Microsoft YaHei"/>
                <a:cs typeface="Microsoft YaHei"/>
              </a:rPr>
              <a:t>弱公司要晚开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52514E"/>
                </a:solidFill>
                <a:latin typeface="Microsoft YaHei"/>
                <a:ea typeface="Microsoft YaHei"/>
                <a:cs typeface="Microsoft YaHei"/>
              </a:rPr>
              <a:t>QSR：SR1–2 开 34% vs SR5+ 开 65%；JLR 38%→60%；JGG 37%→61%。反过来 HKR 是唯一「早开才值」的公司（60%→47%）。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28232"/>
            <a:ext cx="663470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98781"/>
                </a:solidFill>
                <a:latin typeface="Microsoft YaHei"/>
                <a:ea typeface="Microsoft YaHei"/>
                <a:cs typeface="Microsoft YaHei"/>
              </a:rPr>
              <a:t>数据：18xx.games ｜ 分析：Pig9013 ｜ 模型：Deepseek-flash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01631" y="6428232"/>
            <a:ext cx="4423135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98781"/>
                </a:solidFill>
                <a:latin typeface="Microsoft YaHei"/>
                <a:ea typeface="Microsoft YaHei"/>
                <a:cs typeface="Microsoft YaHei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A78D6"/>
                </a:solidFill>
                <a:latin typeface="Microsoft YaHei"/>
                <a:ea typeface="Microsoft YaHei"/>
                <a:cs typeface="Microsoft YaHei"/>
              </a:rPr>
              <a:t>05 主要公司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03504"/>
            <a:ext cx="11057839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B0B0B"/>
                </a:solidFill>
                <a:latin typeface="Microsoft YaHei"/>
                <a:ea typeface="Microsoft YaHei"/>
                <a:cs typeface="Microsoft YaHei"/>
              </a:rPr>
              <a:t>开完之后：董事长持股怎么走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33856"/>
            <a:ext cx="841248" cy="5029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43584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2514E"/>
                </a:solidFill>
                <a:latin typeface="Microsoft YaHei"/>
                <a:ea typeface="Microsoft YaHei"/>
                <a:cs typeface="Microsoft YaHei"/>
              </a:rPr>
              <a:t>par=100 的公司「先少后多」，低 par 的公司终局只到 50%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1645920"/>
          <a:ext cx="11057836" cy="248716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868930"/>
                <a:gridCol w="2336163"/>
                <a:gridCol w="2803395"/>
                <a:gridCol w="2647651"/>
                <a:gridCol w="1401697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公司</a:t>
                      </a:r>
                    </a:p>
                  </a:txBody>
                  <a:tcPr marL="64008" marR="64008" marT="13716" marB="13716" anchor="ctr">
                    <a:solidFill>
                      <a:srgbClr val="0B0B0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董事证书中位</a:t>
                      </a:r>
                    </a:p>
                  </a:txBody>
                  <a:tcPr marL="64008" marR="64008" marT="13716" marB="13716" anchor="ctr">
                    <a:solidFill>
                      <a:srgbClr val="0B0B0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当轮末董事长持股中位</a:t>
                      </a:r>
                    </a:p>
                  </a:txBody>
                  <a:tcPr marL="64008" marR="64008" marT="13716" marB="13716" anchor="ctr">
                    <a:solidFill>
                      <a:srgbClr val="0B0B0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终局董事长持股中位</a:t>
                      </a:r>
                    </a:p>
                  </a:txBody>
                  <a:tcPr marL="64008" marR="64008" marT="13716" marB="13716" anchor="ctr">
                    <a:solidFill>
                      <a:srgbClr val="0B0B0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差值</a:t>
                      </a:r>
                    </a:p>
                  </a:txBody>
                  <a:tcPr marL="64008" marR="64008" marT="13716" marB="13716" anchor="ctr">
                    <a:solidFill>
                      <a:srgbClr val="0B0B0B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BCR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20%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30%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70%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+40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HKR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20%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40%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70%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+30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JHU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20%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40%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70%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+30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JHA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30%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40%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60%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+20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NJR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30%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40%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60%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+20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其余 9 家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30–40%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30–60%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50%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+0~20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566928" y="4160520"/>
            <a:ext cx="41148" cy="5120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4133087"/>
            <a:ext cx="1087495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0B0B0B"/>
                </a:solidFill>
                <a:latin typeface="Microsoft YaHei"/>
                <a:ea typeface="Microsoft YaHei"/>
                <a:cs typeface="Microsoft YaHei"/>
              </a:rPr>
              <a:t>按 par 价：par=100 的公司终局董事长持股 70%，par≤90 的只有 50%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52514E"/>
                </a:solidFill>
                <a:latin typeface="Microsoft YaHei"/>
                <a:ea typeface="Microsoft YaHei"/>
                <a:cs typeface="Microsoft YaHei"/>
              </a:rPr>
              <a:t>高价公司是「先抢公司、后抢股份」——par=100 的股票最早涨到 200，增持成本随时间上升，而董事长在每个 SR 有优先买权。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4892040"/>
            <a:ext cx="41148" cy="5120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4864607"/>
            <a:ext cx="1087495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0B0B0B"/>
                </a:solidFill>
                <a:latin typeface="Microsoft YaHei"/>
                <a:ea typeface="Microsoft YaHei"/>
                <a:cs typeface="Microsoft YaHei"/>
              </a:rPr>
              <a:t>按开启时点：SR6/SR7 才开的公司，董事长前二率 57%–58%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52514E"/>
                </a:solidFill>
                <a:latin typeface="Microsoft YaHei"/>
                <a:ea typeface="Microsoft YaHei"/>
                <a:cs typeface="Microsoft YaHei"/>
              </a:rPr>
              <a:t>「晚期开低价公司」是第二个甜点区：别人在 D 时代砸钱抢车时，你用 par=70 拿下 40–50% 的股份，吃终局红利。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28232"/>
            <a:ext cx="663470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98781"/>
                </a:solidFill>
                <a:latin typeface="Microsoft YaHei"/>
                <a:ea typeface="Microsoft YaHei"/>
                <a:cs typeface="Microsoft YaHei"/>
              </a:rPr>
              <a:t>数据：18xx.games ｜ 分析：Pig9013 ｜ 模型：Deepseek-flash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01631" y="6428232"/>
            <a:ext cx="4423135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98781"/>
                </a:solidFill>
                <a:latin typeface="Microsoft YaHei"/>
                <a:ea typeface="Microsoft YaHei"/>
                <a:cs typeface="Microsoft YaHei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A78D6"/>
                </a:solidFill>
                <a:latin typeface="Microsoft YaHei"/>
                <a:ea typeface="Microsoft YaHei"/>
                <a:cs typeface="Microsoft YaHei"/>
              </a:rPr>
              <a:t>05 主要公司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03504"/>
            <a:ext cx="11057839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B0B0B"/>
                </a:solidFill>
                <a:latin typeface="Microsoft YaHei"/>
                <a:ea typeface="Microsoft YaHei"/>
                <a:cs typeface="Microsoft YaHei"/>
              </a:rPr>
              <a:t>董事长交接：0.41 次/局，79.7% 是「自己卖出来的」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33856"/>
            <a:ext cx="841248" cy="5029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43584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2514E"/>
                </a:solidFill>
                <a:latin typeface="Microsoft YaHei"/>
                <a:ea typeface="Microsoft YaHei"/>
                <a:cs typeface="Microsoft YaHei"/>
              </a:rPr>
              <a:t>138 次交接 / 93 局（27.3%）；集中在 SR4–6 与 SR8–10 两个窗口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1700784"/>
          <a:ext cx="11057837" cy="149961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4423135"/>
                <a:gridCol w="1263753"/>
                <a:gridCol w="1263753"/>
                <a:gridCol w="2053598"/>
                <a:gridCol w="2053598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类型</a:t>
                      </a:r>
                    </a:p>
                  </a:txBody>
                  <a:tcPr marL="64008" marR="64008" marT="13716" marB="13716" anchor="ctr">
                    <a:solidFill>
                      <a:srgbClr val="0B0B0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次数</a:t>
                      </a:r>
                    </a:p>
                  </a:txBody>
                  <a:tcPr marL="64008" marR="64008" marT="13716" marB="13716" anchor="ctr">
                    <a:solidFill>
                      <a:srgbClr val="0B0B0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占比</a:t>
                      </a:r>
                    </a:p>
                  </a:txBody>
                  <a:tcPr marL="64008" marR="64008" marT="13716" marB="13716" anchor="ctr">
                    <a:solidFill>
                      <a:srgbClr val="0B0B0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原董事长现金中位</a:t>
                      </a:r>
                    </a:p>
                  </a:txBody>
                  <a:tcPr marL="64008" marR="64008" marT="13716" marB="13716" anchor="ctr">
                    <a:solidFill>
                      <a:srgbClr val="0B0B0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新董事长前二率</a:t>
                      </a:r>
                    </a:p>
                  </a:txBody>
                  <a:tcPr marL="64008" marR="64008" marT="13716" marB="13716" anchor="ctr">
                    <a:solidFill>
                      <a:srgbClr val="0B0B0B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① 原董事长卖出（抛售/减持让位）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110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79.7%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¥415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48.2%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② 被别人买走 · 原董事长已无现金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14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10.1%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¥58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64.3%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③ 被别人买走 · 原董事长有钱但没动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14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10.1%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¥285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78.6%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566928" y="4251960"/>
            <a:ext cx="41148" cy="5120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4224528"/>
            <a:ext cx="1087495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0B0B0B"/>
                </a:solidFill>
                <a:latin typeface="Microsoft YaHei"/>
                <a:ea typeface="Microsoft YaHei"/>
                <a:cs typeface="Microsoft YaHei"/>
              </a:rPr>
              <a:t>自己卖 = 主动换仓，是正收益（这 110 人前二率 56.4%，高于基线 46.0%）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52514E"/>
                </a:solidFill>
                <a:latin typeface="Microsoft YaHei"/>
                <a:ea typeface="Microsoft YaHei"/>
                <a:cs typeface="Microsoft YaHei"/>
              </a:rPr>
              <a:t>与「TOP 卖股频率是普通玩家 1.7 倍」完全一致：卖掉已涨到 150–200 的成熟公司，把钱投给新公司。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4983480"/>
            <a:ext cx="41148" cy="5120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4956048"/>
            <a:ext cx="1087495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0B0B0B"/>
                </a:solidFill>
                <a:latin typeface="Microsoft YaHei"/>
                <a:ea typeface="Microsoft YaHei"/>
                <a:cs typeface="Microsoft YaHei"/>
              </a:rPr>
              <a:t>被别人买走 = 强负面信号（这 28 位原董事长前二率只有 28.6%）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52514E"/>
                </a:solidFill>
                <a:latin typeface="Microsoft YaHei"/>
                <a:ea typeface="Microsoft YaHei"/>
                <a:cs typeface="Microsoft YaHei"/>
              </a:rPr>
              <a:t>区别不在「丢了公司」，而在「丢的方式」：自己卖是换仓，被买走是你没跟上自己公司的股价。有人在你公司加仓时不理会，是明确的负 EV。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28232"/>
            <a:ext cx="663470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98781"/>
                </a:solidFill>
                <a:latin typeface="Microsoft YaHei"/>
                <a:ea typeface="Microsoft YaHei"/>
                <a:cs typeface="Microsoft YaHei"/>
              </a:rPr>
              <a:t>数据：18xx.games ｜ 分析：Pig9013 ｜ 模型：Deepseek-flash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01631" y="6428232"/>
            <a:ext cx="4423135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98781"/>
                </a:solidFill>
                <a:latin typeface="Microsoft YaHei"/>
                <a:ea typeface="Microsoft YaHei"/>
                <a:cs typeface="Microsoft YaHei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34440" y="2103120"/>
            <a:ext cx="100584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400" b="1" i="0">
                <a:solidFill>
                  <a:srgbClr val="2A78D6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310896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0B0B0B"/>
                </a:solidFill>
                <a:latin typeface="Microsoft YaHei"/>
                <a:ea typeface="Microsoft YaHei"/>
                <a:cs typeface="Microsoft YaHei"/>
              </a:rPr>
              <a:t>资金流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3913632"/>
            <a:ext cx="9144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52514E"/>
                </a:solidFill>
                <a:latin typeface="Microsoft YaHei"/>
                <a:ea typeface="Microsoft YaHei"/>
                <a:cs typeface="Microsoft YaHei"/>
              </a:rPr>
              <a:t>钱从哪来、到哪去——以及为什么 D 时代手里趴着现金反而不安全。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28232"/>
            <a:ext cx="663470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98781"/>
                </a:solidFill>
                <a:latin typeface="Microsoft YaHei"/>
                <a:ea typeface="Microsoft YaHei"/>
                <a:cs typeface="Microsoft YaHei"/>
              </a:rPr>
              <a:t>数据：18xx.games ｜ 分析：Pig9013 ｜ 模型：Deepseek-flash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01631" y="6428232"/>
            <a:ext cx="4423135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98781"/>
                </a:solidFill>
                <a:latin typeface="Microsoft YaHei"/>
                <a:ea typeface="Microsoft YaHei"/>
                <a:cs typeface="Microsoft YaHei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A78D6"/>
                </a:solidFill>
                <a:latin typeface="Microsoft YaHei"/>
                <a:ea typeface="Microsoft YaHei"/>
                <a:cs typeface="Microsoft YaHei"/>
              </a:rPr>
              <a:t>06 资金流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03504"/>
            <a:ext cx="11057839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B0B0B"/>
                </a:solidFill>
                <a:latin typeface="Microsoft YaHei"/>
                <a:ea typeface="Microsoft YaHei"/>
                <a:cs typeface="Microsoft YaHei"/>
              </a:rPr>
              <a:t>玩家的现金曲线：A 时代最紧，D 时代钱最多却花不出去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33856"/>
            <a:ext cx="841248" cy="5029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cas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5212" y="1572768"/>
            <a:ext cx="7321270" cy="219456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66928" y="3922776"/>
            <a:ext cx="41148" cy="5120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3895344"/>
            <a:ext cx="1087495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0B0B0B"/>
                </a:solidFill>
                <a:latin typeface="Microsoft YaHei"/>
                <a:ea typeface="Microsoft YaHei"/>
                <a:cs typeface="Microsoft YaHei"/>
              </a:rPr>
              <a:t>A 时代现金最紧（中位 ¥155）——花完私营、开完公司后几乎没有余钱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52514E"/>
                </a:solidFill>
                <a:latin typeface="Microsoft YaHei"/>
                <a:ea typeface="Microsoft YaHei"/>
                <a:cs typeface="Microsoft YaHei"/>
              </a:rPr>
              <a:t>一次错误的 par 定价就能让你整轮买不起股票。C 时代分化加剧：p10 ¥47 vs p90 ¥1241（26 倍差距）。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4654296"/>
            <a:ext cx="41148" cy="5120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4626864"/>
            <a:ext cx="1087495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0B0B0B"/>
                </a:solidFill>
                <a:latin typeface="Microsoft YaHei"/>
                <a:ea typeface="Microsoft YaHei"/>
                <a:cs typeface="Microsoft YaHei"/>
              </a:rPr>
              <a:t>D 时代现金暴涨到 ¥1180（p90 ¥2787）——因为已经没有东西可买了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52514E"/>
                </a:solidFill>
                <a:latin typeface="Microsoft YaHei"/>
                <a:ea typeface="Microsoft YaHei"/>
                <a:cs typeface="Microsoft YaHei"/>
              </a:rPr>
              <a:t>股票贵得离谱、车被瓜分完。这些趴着的现金不产生任何收益——赢家是在 C 时代结束前把现金换成资产的人。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6428232"/>
            <a:ext cx="663470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98781"/>
                </a:solidFill>
                <a:latin typeface="Microsoft YaHei"/>
                <a:ea typeface="Microsoft YaHei"/>
                <a:cs typeface="Microsoft YaHei"/>
              </a:rPr>
              <a:t>数据：18xx.games ｜ 分析：Pig9013 ｜ 模型：Deepseek-flash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01631" y="6428232"/>
            <a:ext cx="4423135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98781"/>
                </a:solidFill>
                <a:latin typeface="Microsoft YaHei"/>
                <a:ea typeface="Microsoft YaHei"/>
                <a:cs typeface="Microsoft YaHei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A78D6"/>
                </a:solidFill>
                <a:latin typeface="Microsoft YaHei"/>
                <a:ea typeface="Microsoft YaHei"/>
                <a:cs typeface="Microsoft YaHei"/>
              </a:rPr>
              <a:t>06 资金流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03504"/>
            <a:ext cx="11057839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B0B0B"/>
                </a:solidFill>
                <a:latin typeface="Microsoft YaHei"/>
                <a:ea typeface="Microsoft YaHei"/>
                <a:cs typeface="Microsoft YaHei"/>
              </a:rPr>
              <a:t>分红 vs 留存：C 时代是唯一的囤钱窗口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33856"/>
            <a:ext cx="841248" cy="5029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43584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2514E"/>
                </a:solidFill>
                <a:latin typeface="Microsoft YaHei"/>
                <a:ea typeface="Microsoft YaHei"/>
                <a:cs typeface="Microsoft YaHei"/>
              </a:rPr>
              <a:t>口径：分母用「公司-运营回合」，剔除「后期公司更多」的假象</a:t>
            </a:r>
          </a:p>
        </p:txBody>
      </p:sp>
      <p:pic>
        <p:nvPicPr>
          <p:cNvPr id="7" name="Picture 6" descr="e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7579" y="1572768"/>
            <a:ext cx="7636535" cy="219456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3968496"/>
          <a:ext cx="11057836" cy="153619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020723"/>
                <a:gridCol w="1871326"/>
                <a:gridCol w="1531085"/>
                <a:gridCol w="1531085"/>
                <a:gridCol w="1871326"/>
                <a:gridCol w="1531085"/>
                <a:gridCol w="1701206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时代</a:t>
                      </a:r>
                    </a:p>
                  </a:txBody>
                  <a:tcPr marL="64008" marR="64008" marT="13716" marB="13716" anchor="ctr">
                    <a:solidFill>
                      <a:srgbClr val="0B0B0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公司回合</a:t>
                      </a:r>
                    </a:p>
                  </a:txBody>
                  <a:tcPr marL="64008" marR="64008" marT="13716" marB="13716" anchor="ctr">
                    <a:solidFill>
                      <a:srgbClr val="0B0B0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分红/回合</a:t>
                      </a:r>
                    </a:p>
                  </a:txBody>
                  <a:tcPr marL="64008" marR="64008" marT="13716" marB="13716" anchor="ctr">
                    <a:solidFill>
                      <a:srgbClr val="0B0B0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留存/回合</a:t>
                      </a:r>
                    </a:p>
                  </a:txBody>
                  <a:tcPr marL="64008" marR="64008" marT="13716" marB="13716" anchor="ctr">
                    <a:solidFill>
                      <a:srgbClr val="0B0B0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留存占决策</a:t>
                      </a:r>
                    </a:p>
                  </a:txBody>
                  <a:tcPr marL="64008" marR="64008" marT="13716" marB="13716" anchor="ctr">
                    <a:solidFill>
                      <a:srgbClr val="0B0B0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购车/回合</a:t>
                      </a:r>
                    </a:p>
                  </a:txBody>
                  <a:tcPr marL="64008" marR="64008" marT="13716" marB="13716" anchor="ctr">
                    <a:solidFill>
                      <a:srgbClr val="0B0B0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垫资/回合</a:t>
                      </a:r>
                    </a:p>
                  </a:txBody>
                  <a:tcPr marL="64008" marR="64008" marT="13716" marB="13716" anchor="ctr">
                    <a:solidFill>
                      <a:srgbClr val="0B0B0B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7,381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0.68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0.01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1.8%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0.58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0.000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B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10,591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0.71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0.14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16.1%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0.46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0.001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14,533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0.60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0.26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30.0%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0.44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0.026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D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13,591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0.92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0.02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2.3%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0.13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0.045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66928" y="6428232"/>
            <a:ext cx="663470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98781"/>
                </a:solidFill>
                <a:latin typeface="Microsoft YaHei"/>
                <a:ea typeface="Microsoft YaHei"/>
                <a:cs typeface="Microsoft YaHei"/>
              </a:rPr>
              <a:t>数据：18xx.games ｜ 分析：Pig9013 ｜ 模型：Deepseek-flash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01631" y="6428232"/>
            <a:ext cx="4423135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98781"/>
                </a:solidFill>
                <a:latin typeface="Microsoft YaHei"/>
                <a:ea typeface="Microsoft YaHei"/>
                <a:cs typeface="Microsoft YaHei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A78D6"/>
                </a:solidFill>
                <a:latin typeface="Microsoft YaHei"/>
                <a:ea typeface="Microsoft YaHei"/>
                <a:cs typeface="Microsoft YaHei"/>
              </a:rPr>
              <a:t>06 资金流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03504"/>
            <a:ext cx="11057839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B0B0B"/>
                </a:solidFill>
                <a:latin typeface="Microsoft YaHei"/>
                <a:ea typeface="Microsoft YaHei"/>
                <a:cs typeface="Microsoft YaHei"/>
              </a:rPr>
              <a:t>垫资与个人贷款：贷款者的前二率只有 19.8%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33856"/>
            <a:ext cx="841248" cy="5029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700784"/>
            <a:ext cx="2613583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700784"/>
            <a:ext cx="2613583" cy="5029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1920240"/>
            <a:ext cx="2247823" cy="10881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400" b="1" i="0">
                <a:solidFill>
                  <a:srgbClr val="0B0B0B"/>
                </a:solidFill>
                <a:latin typeface="Microsoft YaHei"/>
                <a:ea typeface="Microsoft YaHei"/>
                <a:cs typeface="Microsoft YaHei"/>
              </a:rPr>
              <a:t>1000 次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2514E"/>
                </a:solidFill>
                <a:latin typeface="Microsoft YaHei"/>
                <a:ea typeface="Microsoft YaHei"/>
                <a:cs typeface="Microsoft YaHei"/>
              </a:rPr>
              <a:t>董事垫资（2.93 次/局）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898781"/>
                </a:solidFill>
                <a:latin typeface="Microsoft YaHei"/>
                <a:ea typeface="Microsoft YaHei"/>
                <a:cs typeface="Microsoft YaHei"/>
              </a:rPr>
              <a:t>合计 ¥374,199，单次中位 ¥270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1679" y="1700784"/>
            <a:ext cx="2613583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81679" y="1700784"/>
            <a:ext cx="2613583" cy="5029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4559" y="1920240"/>
            <a:ext cx="2247823" cy="10881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400" b="1" i="0">
                <a:solidFill>
                  <a:srgbClr val="0B0B0B"/>
                </a:solidFill>
                <a:latin typeface="Microsoft YaHei"/>
                <a:ea typeface="Microsoft YaHei"/>
                <a:cs typeface="Microsoft YaHei"/>
              </a:rPr>
              <a:t>134 次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2514E"/>
                </a:solidFill>
                <a:latin typeface="Microsoft YaHei"/>
                <a:ea typeface="Microsoft YaHei"/>
                <a:cs typeface="Microsoft YaHei"/>
              </a:rPr>
              <a:t>个人贷款（0.39 次/局）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898781"/>
                </a:solidFill>
                <a:latin typeface="Microsoft YaHei"/>
                <a:ea typeface="Microsoft YaHei"/>
                <a:cs typeface="Microsoft YaHei"/>
              </a:rPr>
              <a:t>本金 ¥28,611 → 50% 计息欠款 ¥42,916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96431" y="1700784"/>
            <a:ext cx="2613583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96431" y="1700784"/>
            <a:ext cx="2613583" cy="5029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9311" y="1920240"/>
            <a:ext cx="2247823" cy="10881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400" b="1" i="0">
                <a:solidFill>
                  <a:srgbClr val="0B0B0B"/>
                </a:solidFill>
                <a:latin typeface="Microsoft YaHei"/>
                <a:ea typeface="Microsoft YaHei"/>
                <a:cs typeface="Microsoft YaHei"/>
              </a:rPr>
              <a:t>19.8%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2514E"/>
                </a:solidFill>
                <a:latin typeface="Microsoft YaHei"/>
                <a:ea typeface="Microsoft YaHei"/>
                <a:cs typeface="Microsoft YaHei"/>
              </a:rPr>
              <a:t>贷款者的前二率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898781"/>
                </a:solidFill>
                <a:latin typeface="Microsoft YaHei"/>
                <a:ea typeface="Microsoft YaHei"/>
                <a:cs typeface="Microsoft YaHei"/>
              </a:rPr>
              <a:t>对比只垫资未贷款者 48.4%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011183" y="1700784"/>
            <a:ext cx="2613583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011183" y="1700784"/>
            <a:ext cx="2613583" cy="5029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94063" y="1920240"/>
            <a:ext cx="2247823" cy="10881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400" b="1" i="0">
                <a:solidFill>
                  <a:srgbClr val="0B0B0B"/>
                </a:solidFill>
                <a:latin typeface="Microsoft YaHei"/>
                <a:ea typeface="Microsoft YaHei"/>
                <a:cs typeface="Microsoft YaHei"/>
              </a:rPr>
              <a:t>0.061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2514E"/>
                </a:solidFill>
                <a:latin typeface="Microsoft YaHei"/>
                <a:ea typeface="Microsoft YaHei"/>
                <a:cs typeface="Microsoft YaHei"/>
              </a:rPr>
              <a:t>OR9 的垫资率（峰值）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898781"/>
                </a:solidFill>
                <a:latin typeface="Microsoft YaHei"/>
                <a:ea typeface="Microsoft YaHei"/>
                <a:cs typeface="Microsoft YaHei"/>
              </a:rPr>
              <a:t>每公司每回合，OR10 回落到 0.033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3529584"/>
            <a:ext cx="11057839" cy="658368"/>
          </a:xfrm>
          <a:prstGeom prst="rect">
            <a:avLst/>
          </a:prstGeom>
          <a:solidFill>
            <a:srgbClr val="F2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66928" y="3529584"/>
            <a:ext cx="50292" cy="658368"/>
          </a:xfrm>
          <a:prstGeom prst="rect">
            <a:avLst/>
          </a:prstGeom>
          <a:solidFill>
            <a:srgbClr val="E349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86384" y="3529584"/>
            <a:ext cx="10618927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E34948"/>
                </a:solidFill>
                <a:latin typeface="Microsoft YaHei"/>
                <a:ea typeface="Microsoft YaHei"/>
                <a:cs typeface="Microsoft YaHei"/>
              </a:rPr>
              <a:t>危险信号：</a:t>
            </a:r>
            <a:r>
              <a:rPr sz="1350" b="0" i="0">
                <a:solidFill>
                  <a:srgbClr val="0B0B0B"/>
                </a:solidFill>
                <a:latin typeface="Microsoft YaHei"/>
                <a:ea typeface="Microsoft YaHei"/>
                <a:cs typeface="Microsoft YaHei"/>
              </a:rPr>
              <a:t>贷款是「已经没钱了」的症状，不是病因——能用自有现金垫资（1127 人次，前二率 48.4%）说明你还有钱；要用 50% 利息贷款的（106 人，19.8%），说明你已经在输的路上。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6428232"/>
            <a:ext cx="663470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98781"/>
                </a:solidFill>
                <a:latin typeface="Microsoft YaHei"/>
                <a:ea typeface="Microsoft YaHei"/>
                <a:cs typeface="Microsoft YaHei"/>
              </a:rPr>
              <a:t>数据：18xx.games ｜ 分析：Pig9013 ｜ 模型：Deepseek-flash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01631" y="6428232"/>
            <a:ext cx="4423135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98781"/>
                </a:solidFill>
                <a:latin typeface="Microsoft YaHei"/>
                <a:ea typeface="Microsoft YaHei"/>
                <a:cs typeface="Microsoft YaHei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34440" y="2103120"/>
            <a:ext cx="100584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400" b="1" i="0">
                <a:solidFill>
                  <a:srgbClr val="2A78D6"/>
                </a:solidFill>
                <a:latin typeface="Microsoft YaHei"/>
                <a:ea typeface="Microsoft YaHei"/>
                <a:cs typeface="Microsoft YaHei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310896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0B0B0B"/>
                </a:solidFill>
                <a:latin typeface="Microsoft YaHei"/>
                <a:ea typeface="Microsoft YaHei"/>
                <a:cs typeface="Microsoft YaHei"/>
              </a:rPr>
              <a:t>时代与危机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3913632"/>
            <a:ext cx="9144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52514E"/>
                </a:solidFill>
                <a:latin typeface="Microsoft YaHei"/>
                <a:ea typeface="Microsoft YaHei"/>
                <a:cs typeface="Microsoft YaHei"/>
              </a:rPr>
              <a:t>车流日历、危机日历、换车、车站——四条能直接上桌的规律。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28232"/>
            <a:ext cx="663470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98781"/>
                </a:solidFill>
                <a:latin typeface="Microsoft YaHei"/>
                <a:ea typeface="Microsoft YaHei"/>
                <a:cs typeface="Microsoft YaHei"/>
              </a:rPr>
              <a:t>数据：18xx.games ｜ 分析：Pig9013 ｜ 模型：Deepseek-flash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01631" y="6428232"/>
            <a:ext cx="4423135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98781"/>
                </a:solidFill>
                <a:latin typeface="Microsoft YaHei"/>
                <a:ea typeface="Microsoft YaHei"/>
                <a:cs typeface="Microsoft YaHei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A78D6"/>
                </a:solidFill>
                <a:latin typeface="Microsoft YaHei"/>
                <a:ea typeface="Microsoft YaHei"/>
                <a:cs typeface="Microsoft YaHei"/>
              </a:rPr>
              <a:t>07 时代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03504"/>
            <a:ext cx="11057839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B0B0B"/>
                </a:solidFill>
                <a:latin typeface="Microsoft YaHei"/>
                <a:ea typeface="Microsoft YaHei"/>
                <a:cs typeface="Microsoft YaHei"/>
              </a:rPr>
              <a:t>危机日历：按公司-回合归一后，峰值在 OR9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33856"/>
            <a:ext cx="841248" cy="5029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627632"/>
          <a:ext cx="11057836" cy="285292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163983"/>
                <a:gridCol w="1454978"/>
                <a:gridCol w="1454978"/>
                <a:gridCol w="1891472"/>
                <a:gridCol w="1745974"/>
                <a:gridCol w="3346451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OR</a:t>
                      </a:r>
                    </a:p>
                  </a:txBody>
                  <a:tcPr marL="64008" marR="64008" marT="13716" marB="13716" anchor="ctr">
                    <a:solidFill>
                      <a:srgbClr val="0B0B0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公司回合</a:t>
                      </a:r>
                    </a:p>
                  </a:txBody>
                  <a:tcPr marL="64008" marR="64008" marT="13716" marB="13716" anchor="ctr">
                    <a:solidFill>
                      <a:srgbClr val="0B0B0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垫资次数</a:t>
                      </a:r>
                    </a:p>
                  </a:txBody>
                  <a:tcPr marL="64008" marR="64008" marT="13716" marB="13716" anchor="ctr">
                    <a:solidFill>
                      <a:srgbClr val="0B0B0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垫资/公司回合</a:t>
                      </a:r>
                    </a:p>
                  </a:txBody>
                  <a:tcPr marL="64008" marR="64008" marT="13716" marB="13716" anchor="ctr">
                    <a:solidFill>
                      <a:srgbClr val="0B0B0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垫资金额</a:t>
                      </a:r>
                    </a:p>
                  </a:txBody>
                  <a:tcPr marL="64008" marR="64008" marT="13716" marB="13716" anchor="ctr">
                    <a:solidFill>
                      <a:srgbClr val="0B0B0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说明</a:t>
                      </a:r>
                    </a:p>
                  </a:txBody>
                  <a:tcPr marL="64008" marR="64008" marT="13716" marB="13716" anchor="ctr">
                    <a:solidFill>
                      <a:srgbClr val="0B0B0B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OR1–4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15,337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0.000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¥220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几乎不发生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OR5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3,874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55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0.014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¥4,135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 型车（¥300）开始压现金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OR6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4,703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101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0.021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¥14,571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 型车（¥600）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OR7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3,121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96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0.031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¥18,450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6E（¥700）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OR8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5,124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190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0.037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¥51,077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 型车（¥800）登场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OR9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3,297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200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0.061（峰值）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¥84,707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单回合风险最高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OR10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10,640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354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0.033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¥201,039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 个子回合：总额最大但摊薄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566928" y="4791456"/>
            <a:ext cx="11057839" cy="658368"/>
          </a:xfrm>
          <a:prstGeom prst="rect">
            <a:avLst/>
          </a:prstGeom>
          <a:solidFill>
            <a:srgbClr val="F2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4791456"/>
            <a:ext cx="50292" cy="658368"/>
          </a:xfrm>
          <a:prstGeom prst="rect">
            <a:avLst/>
          </a:prstGeom>
          <a:solidFill>
            <a:srgbClr val="E349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" y="4791456"/>
            <a:ext cx="10618927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34948"/>
                </a:solidFill>
                <a:latin typeface="Microsoft YaHei"/>
                <a:ea typeface="Microsoft YaHei"/>
                <a:cs typeface="Microsoft YaHei"/>
              </a:rPr>
              <a:t>可执行：</a:t>
            </a:r>
            <a:r>
              <a:rPr sz="1200" b="0" i="0">
                <a:solidFill>
                  <a:srgbClr val="0B0B0B"/>
                </a:solidFill>
                <a:latin typeface="Microsoft YaHei"/>
                <a:ea typeface="Microsoft YaHei"/>
                <a:cs typeface="Microsoft YaHei"/>
              </a:rPr>
              <a:t>OR8 之前必须给每家公司备好买 8 车的钱（¥800）——否则 OR8–10 的垫资会掏空你个人（OR10 单次均值 ¥568）。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28232"/>
            <a:ext cx="663470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98781"/>
                </a:solidFill>
                <a:latin typeface="Microsoft YaHei"/>
                <a:ea typeface="Microsoft YaHei"/>
                <a:cs typeface="Microsoft YaHei"/>
              </a:rPr>
              <a:t>数据：18xx.games ｜ 分析：Pig9013 ｜ 模型：Deepseek-flash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01631" y="6428232"/>
            <a:ext cx="4423135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98781"/>
                </a:solidFill>
                <a:latin typeface="Microsoft YaHei"/>
                <a:ea typeface="Microsoft YaHei"/>
                <a:cs typeface="Microsoft YaHei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A78D6"/>
                </a:solidFill>
                <a:latin typeface="Microsoft YaHei"/>
                <a:ea typeface="Microsoft YaHei"/>
                <a:cs typeface="Microsoft YaHei"/>
              </a:rPr>
              <a:t>07 时代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03504"/>
            <a:ext cx="11057839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B0B0B"/>
                </a:solidFill>
                <a:latin typeface="Microsoft YaHei"/>
                <a:ea typeface="Microsoft YaHei"/>
                <a:cs typeface="Microsoft YaHei"/>
              </a:rPr>
              <a:t>换车：2930 次 / 8.59 次每局——四个假设的逐一检验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33856"/>
            <a:ext cx="841248" cy="5029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43584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2514E"/>
                </a:solidFill>
                <a:latin typeface="Microsoft YaHei"/>
                <a:ea typeface="Microsoft YaHei"/>
                <a:cs typeface="Microsoft YaHei"/>
              </a:rPr>
              <a:t>同董事长公司之间可以自由买卖列车（价格下限 ¥1）；¥1 成交占 22.3%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1700784"/>
          <a:ext cx="11057837" cy="234086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410041"/>
                <a:gridCol w="3118877"/>
                <a:gridCol w="4253015"/>
                <a:gridCol w="1275904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假设</a:t>
                      </a:r>
                    </a:p>
                  </a:txBody>
                  <a:tcPr marL="64008" marR="64008" marT="13716" marB="13716" anchor="ctr">
                    <a:solidFill>
                      <a:srgbClr val="0B0B0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检验方法</a:t>
                      </a:r>
                    </a:p>
                  </a:txBody>
                  <a:tcPr marL="64008" marR="64008" marT="13716" marB="13716" anchor="ctr">
                    <a:solidFill>
                      <a:srgbClr val="0B0B0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结果</a:t>
                      </a:r>
                    </a:p>
                  </a:txBody>
                  <a:tcPr marL="64008" marR="64008" marT="13716" marB="13716" anchor="ctr">
                    <a:solidFill>
                      <a:srgbClr val="0B0B0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判定</a:t>
                      </a:r>
                    </a:p>
                  </a:txBody>
                  <a:tcPr marL="64008" marR="64008" marT="13716" marB="13716" anchor="ctr">
                    <a:solidFill>
                      <a:srgbClr val="0B0B0B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1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资金局促（买不起新车）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0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买方金库 ≥ 该时代新车价的占比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0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只有 35.3% → 64.7% 的换车发生在买方买不起新车时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0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✅ 主因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1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大家都有好几家公司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0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换车的董事长家数分布 vs 公司-回合基线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0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42.8% vs 41.8%（3 家）——几乎完全一致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0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❌ 否定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1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为加快买车、推进时代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0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换车次数 vs 进入 D 时代的 OR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0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r = −0.006；换得多的局进 D 反而更晚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0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❌ 否定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1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旧车锈蚀前腾挪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0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换车的车型分布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0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以 2 型 571、4 型 409、6 型 388 为主，都是临近锈蚀的旧车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0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✅ 成立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566928" y="4846320"/>
            <a:ext cx="11057839" cy="658368"/>
          </a:xfrm>
          <a:prstGeom prst="rect">
            <a:avLst/>
          </a:prstGeom>
          <a:solidFill>
            <a:srgbClr val="F2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4846320"/>
            <a:ext cx="50292" cy="65836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4846320"/>
            <a:ext cx="10618927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2A78D6"/>
                </a:solidFill>
                <a:latin typeface="Microsoft YaHei"/>
                <a:ea typeface="Microsoft YaHei"/>
                <a:cs typeface="Microsoft YaHei"/>
              </a:rPr>
              <a:t>结论：</a:t>
            </a:r>
            <a:r>
              <a:rPr sz="1200" b="0" i="0">
                <a:solidFill>
                  <a:srgbClr val="0B0B0B"/>
                </a:solidFill>
                <a:latin typeface="Microsoft YaHei"/>
                <a:ea typeface="Microsoft YaHei"/>
                <a:cs typeface="Microsoft YaHei"/>
              </a:rPr>
              <a:t>换车 = 「买不起新车」+「旧车有残值可用」的叠加，与公司数量无关、与加速时代无关。第一通道是 BCR→CKR（184 次，成昆线两端）。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6428232"/>
            <a:ext cx="663470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98781"/>
                </a:solidFill>
                <a:latin typeface="Microsoft YaHei"/>
                <a:ea typeface="Microsoft YaHei"/>
                <a:cs typeface="Microsoft YaHei"/>
              </a:rPr>
              <a:t>数据：18xx.games ｜ 分析：Pig9013 ｜ 模型：Deepseek-flash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01631" y="6428232"/>
            <a:ext cx="4423135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98781"/>
                </a:solidFill>
                <a:latin typeface="Microsoft YaHei"/>
                <a:ea typeface="Microsoft YaHei"/>
                <a:cs typeface="Microsoft YaHei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A78D6"/>
                </a:solidFill>
                <a:latin typeface="Microsoft YaHei"/>
                <a:ea typeface="Microsoft YaHei"/>
                <a:cs typeface="Microsoft YaHei"/>
              </a:rPr>
              <a:t>07 时代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03504"/>
            <a:ext cx="11057839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B0B0B"/>
                </a:solidFill>
                <a:latin typeface="Microsoft YaHei"/>
                <a:ea typeface="Microsoft YaHei"/>
                <a:cs typeface="Microsoft YaHei"/>
              </a:rPr>
              <a:t>车站放在哪：天津与 L14 是金矿，吉林市与大连是坑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33856"/>
            <a:ext cx="841248" cy="5029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43584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2514E"/>
                </a:solidFill>
                <a:latin typeface="Microsoft YaHei"/>
                <a:ea typeface="Microsoft YaHei"/>
                <a:cs typeface="Microsoft YaHei"/>
              </a:rPr>
              <a:t>只看母站以外的额外车站（每家公司固定 3 枚标记）</a:t>
            </a:r>
          </a:p>
        </p:txBody>
      </p:sp>
      <p:pic>
        <p:nvPicPr>
          <p:cNvPr id="7" name="Picture 6" descr="he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2873" y="1554480"/>
            <a:ext cx="8105948" cy="2651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66928" y="4379976"/>
            <a:ext cx="41148" cy="5120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4352544"/>
            <a:ext cx="1087495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0B0B0B"/>
                </a:solidFill>
                <a:latin typeface="Microsoft YaHei"/>
                <a:ea typeface="Microsoft YaHei"/>
                <a:cs typeface="Microsoft YaHei"/>
              </a:rPr>
              <a:t>TOP 玩家的偏好：L14 占 12.4%（普通玩家 5.4%，差 +7.0pp）；回避北京与重庆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52514E"/>
                </a:solidFill>
                <a:latin typeface="Microsoft YaHei"/>
                <a:ea typeface="Microsoft YaHei"/>
                <a:cs typeface="Microsoft YaHei"/>
              </a:rPr>
              <a:t>北京虽然落点最多（19.8%），但那是四家公司母站被迫的——TOP 在「额外车站」上明显回避它（−1.6pp）。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5111496"/>
            <a:ext cx="41148" cy="5120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5084064"/>
            <a:ext cx="1087495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0B0B0B"/>
                </a:solidFill>
                <a:latin typeface="Microsoft YaHei"/>
                <a:ea typeface="Microsoft YaHei"/>
                <a:cs typeface="Microsoft YaHei"/>
              </a:rPr>
              <a:t>落点跟着「私营能力 + 投资者母基地」走（交叉印证）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52514E"/>
                </a:solidFill>
                <a:latin typeface="Microsoft YaHei"/>
                <a:ea typeface="Microsoft YaHei"/>
                <a:cs typeface="Microsoft YaHei"/>
              </a:rPr>
              <a:t>P3 台湾持有者 → L14 最多；法资持有者 → 重庆 196 次（连 BCR）；英/葡资 → L14（连 HKR）；俄资 → 吉林市 93/E9 85（连 JHA）。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28232"/>
            <a:ext cx="663470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98781"/>
                </a:solidFill>
                <a:latin typeface="Microsoft YaHei"/>
                <a:ea typeface="Microsoft YaHei"/>
                <a:cs typeface="Microsoft YaHei"/>
              </a:rPr>
              <a:t>数据：18xx.games ｜ 分析：Pig9013 ｜ 模型：Deepseek-flash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01631" y="6428232"/>
            <a:ext cx="4423135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98781"/>
                </a:solidFill>
                <a:latin typeface="Microsoft YaHei"/>
                <a:ea typeface="Microsoft YaHei"/>
                <a:cs typeface="Microsoft YaHei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34440" y="2103120"/>
            <a:ext cx="100584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400" b="1" i="0">
                <a:solidFill>
                  <a:srgbClr val="2A78D6"/>
                </a:solidFill>
                <a:latin typeface="Microsoft YaHei"/>
                <a:ea typeface="Microsoft YaHei"/>
                <a:cs typeface="Microsoft YaHei"/>
              </a:rPr>
              <a:t>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310896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0B0B0B"/>
                </a:solidFill>
                <a:latin typeface="Microsoft YaHei"/>
                <a:ea typeface="Microsoft YaHei"/>
                <a:cs typeface="Microsoft YaHei"/>
              </a:rPr>
              <a:t>TOP 玩家的打法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3913632"/>
            <a:ext cx="9144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52514E"/>
                </a:solidFill>
                <a:latin typeface="Microsoft YaHei"/>
                <a:ea typeface="Microsoft YaHei"/>
                <a:cs typeface="Microsoft YaHei"/>
              </a:rPr>
              <a:t>三层玩家的投入几乎一样——差异在「周转」与「危机准备」。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28232"/>
            <a:ext cx="663470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98781"/>
                </a:solidFill>
                <a:latin typeface="Microsoft YaHei"/>
                <a:ea typeface="Microsoft YaHei"/>
                <a:cs typeface="Microsoft YaHei"/>
              </a:rPr>
              <a:t>数据：18xx.games ｜ 分析：Pig9013 ｜ 模型：Deepseek-flash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01631" y="6428232"/>
            <a:ext cx="4423135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98781"/>
                </a:solidFill>
                <a:latin typeface="Microsoft YaHei"/>
                <a:ea typeface="Microsoft YaHei"/>
                <a:cs typeface="Microsoft YaHei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A78D6"/>
                </a:solidFill>
                <a:latin typeface="Microsoft YaHei"/>
                <a:ea typeface="Microsoft YaHei"/>
                <a:cs typeface="Microsoft YaHei"/>
              </a:rPr>
              <a:t>08 TOP 打法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03504"/>
            <a:ext cx="11057839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B0B0B"/>
                </a:solidFill>
                <a:latin typeface="Microsoft YaHei"/>
                <a:ea typeface="Microsoft YaHei"/>
                <a:cs typeface="Microsoft YaHei"/>
              </a:rPr>
              <a:t>三层对照：投入一样，周转不同（每人-局均值）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33856"/>
            <a:ext cx="841248" cy="5029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645920"/>
          <a:ext cx="11057838" cy="259689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801132"/>
                <a:gridCol w="2418902"/>
                <a:gridCol w="2418902"/>
                <a:gridCol w="2418902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指标</a:t>
                      </a:r>
                    </a:p>
                  </a:txBody>
                  <a:tcPr marL="64008" marR="64008" marT="13716" marB="13716" anchor="ctr">
                    <a:solidFill>
                      <a:srgbClr val="0B0B0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top（8 人）</a:t>
                      </a:r>
                    </a:p>
                  </a:txBody>
                  <a:tcPr marL="64008" marR="64008" marT="13716" marB="13716" anchor="ctr">
                    <a:solidFill>
                      <a:srgbClr val="0B0B0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mid（15 人）</a:t>
                      </a:r>
                    </a:p>
                  </a:txBody>
                  <a:tcPr marL="64008" marR="64008" marT="13716" marB="13716" anchor="ctr">
                    <a:solidFill>
                      <a:srgbClr val="0B0B0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bot（13 人）</a:t>
                      </a:r>
                    </a:p>
                  </a:txBody>
                  <a:tcPr marL="64008" marR="64008" marT="13716" marB="13716" anchor="ctr">
                    <a:solidFill>
                      <a:srgbClr val="0B0B0B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私营支出 ÷ 起始资金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39.9%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37.0%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38.5%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开店数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2.90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2.82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2.95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买股次数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19.3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17.3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17.9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卖股次数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0CA30C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4.2　↑ 1.7 倍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2.8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D03B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2.5　↓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卖股收入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¥564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¥339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¥300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垫资金额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0CA30C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¥79　↑ 最优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¥111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D03B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¥250　↓ 3.2 倍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终局持股合计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201%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204%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215%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566928" y="4407408"/>
            <a:ext cx="11057839" cy="658368"/>
          </a:xfrm>
          <a:prstGeom prst="rect">
            <a:avLst/>
          </a:prstGeom>
          <a:solidFill>
            <a:srgbClr val="F2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4407408"/>
            <a:ext cx="50292" cy="65836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" y="4407408"/>
            <a:ext cx="10618927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2A78D6"/>
                </a:solidFill>
                <a:latin typeface="Microsoft YaHei"/>
                <a:ea typeface="Microsoft YaHei"/>
                <a:cs typeface="Microsoft YaHei"/>
              </a:rPr>
              <a:t>一句话：</a:t>
            </a:r>
            <a:r>
              <a:rPr sz="1200" b="0" i="0">
                <a:solidFill>
                  <a:srgbClr val="0B0B0B"/>
                </a:solidFill>
                <a:latin typeface="Microsoft YaHei"/>
                <a:ea typeface="Microsoft YaHei"/>
                <a:cs typeface="Microsoft YaHei"/>
              </a:rPr>
              <a:t>TOP 的优势不在「多做」，而在「周转」：一样的投入，卖出频率高 1.7 倍；一样的开店数，垫资只有 bot 的 1/3。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28232"/>
            <a:ext cx="663470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98781"/>
                </a:solidFill>
                <a:latin typeface="Microsoft YaHei"/>
                <a:ea typeface="Microsoft YaHei"/>
                <a:cs typeface="Microsoft YaHei"/>
              </a:rPr>
              <a:t>数据：18xx.games ｜ 分析：Pig9013 ｜ 模型：Deepseek-flash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01631" y="6428232"/>
            <a:ext cx="4423135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98781"/>
                </a:solidFill>
                <a:latin typeface="Microsoft YaHei"/>
                <a:ea typeface="Microsoft YaHei"/>
                <a:cs typeface="Microsoft YaHei"/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A78D6"/>
                </a:solidFill>
                <a:latin typeface="Microsoft YaHei"/>
                <a:ea typeface="Microsoft YaHei"/>
                <a:cs typeface="Microsoft YaHei"/>
              </a:rPr>
              <a:t>08 TOP 打法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03504"/>
            <a:ext cx="11057839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B0B0B"/>
                </a:solidFill>
                <a:latin typeface="Microsoft YaHei"/>
                <a:ea typeface="Microsoft YaHei"/>
                <a:cs typeface="Microsoft YaHei"/>
              </a:rPr>
              <a:t>胜率最高的四条打法（按证据强度排序）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33856"/>
            <a:ext cx="841248" cy="5029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655064"/>
            <a:ext cx="41148" cy="5120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1627632"/>
            <a:ext cx="1087495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0B0B0B"/>
                </a:solidFill>
                <a:latin typeface="Microsoft YaHei"/>
                <a:ea typeface="Microsoft YaHei"/>
                <a:cs typeface="Microsoft YaHei"/>
              </a:rPr>
              <a:t>① 当 4–5 家公司的董事长：61.8% / 65.3%（对照只当 1 家 18.4%）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52514E"/>
                </a:solidFill>
                <a:latin typeface="Microsoft YaHei"/>
                <a:ea typeface="Microsoft YaHei"/>
                <a:cs typeface="Microsoft YaHei"/>
              </a:rPr>
              <a:t>全作最强的单调关系（n=266）。机制见第七章换车——多家公司 = 一个可以互相调度的公司群。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2386584"/>
            <a:ext cx="41148" cy="5120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2359152"/>
            <a:ext cx="1087495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0B0B0B"/>
                </a:solidFill>
                <a:latin typeface="Microsoft YaHei"/>
                <a:ea typeface="Microsoft YaHei"/>
                <a:cs typeface="Microsoft YaHei"/>
              </a:rPr>
              <a:t>② SR1 抢 HKR（上海）：董事长前二率 59.9%（184/308）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52514E"/>
                </a:solidFill>
                <a:latin typeface="Microsoft YaHei"/>
                <a:ea typeface="Microsoft YaHei"/>
                <a:cs typeface="Microsoft YaHei"/>
              </a:rPr>
              <a:t>89.1% 的对局里它被开，是本作最强的单点开局结论。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3118103"/>
            <a:ext cx="41148" cy="5120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3090672"/>
            <a:ext cx="1087495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0B0B0B"/>
                </a:solidFill>
                <a:latin typeface="Microsoft YaHei"/>
                <a:ea typeface="Microsoft YaHei"/>
                <a:cs typeface="Microsoft YaHei"/>
              </a:rPr>
              <a:t>③ 私营买 3–4 张、留得下开公司的钱：50.0% / 55.8%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52514E"/>
                </a:solidFill>
                <a:latin typeface="Microsoft YaHei"/>
                <a:ea typeface="Microsoft YaHei"/>
                <a:cs typeface="Microsoft YaHei"/>
              </a:rPr>
              <a:t>P3 台湾西部线 59.5% 是全场最好的单张；唯一禁区是清空现金（&gt;83% 支出 → 34.2%）。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3849624"/>
            <a:ext cx="41148" cy="5120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8" y="3822191"/>
            <a:ext cx="1087495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0B0B0B"/>
                </a:solidFill>
                <a:latin typeface="Microsoft YaHei"/>
                <a:ea typeface="Microsoft YaHei"/>
                <a:cs typeface="Microsoft YaHei"/>
              </a:rPr>
              <a:t>④ 弱公司晚开（SR5+），强公司早开：QSR 65% vs 34%、JLR 60% vs 38%；HKR 反向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52514E"/>
                </a:solidFill>
                <a:latin typeface="Microsoft YaHei"/>
                <a:ea typeface="Microsoft YaHei"/>
                <a:cs typeface="Microsoft YaHei"/>
              </a:rPr>
              <a:t>晚开时 par 只需 70–80、40% 证书一次到位，且不跟别人抢道。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428232"/>
            <a:ext cx="663470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98781"/>
                </a:solidFill>
                <a:latin typeface="Microsoft YaHei"/>
                <a:ea typeface="Microsoft YaHei"/>
                <a:cs typeface="Microsoft YaHei"/>
              </a:rPr>
              <a:t>数据：18xx.games ｜ 分析：Pig9013 ｜ 模型：Deepseek-flash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01631" y="6428232"/>
            <a:ext cx="4423135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98781"/>
                </a:solidFill>
                <a:latin typeface="Microsoft YaHei"/>
                <a:ea typeface="Microsoft YaHei"/>
                <a:cs typeface="Microsoft YaHei"/>
              </a:rPr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A78D6"/>
                </a:solidFill>
                <a:latin typeface="Microsoft YaHei"/>
                <a:ea typeface="Microsoft YaHei"/>
                <a:cs typeface="Microsoft YaHei"/>
              </a:rPr>
              <a:t>08 TOP 打法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03504"/>
            <a:ext cx="11057839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B0B0B"/>
                </a:solidFill>
                <a:latin typeface="Microsoft YaHei"/>
                <a:ea typeface="Microsoft YaHei"/>
                <a:cs typeface="Microsoft YaHei"/>
              </a:rPr>
              <a:t>反面清单：这些做法在数据上明确吃亏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33856"/>
            <a:ext cx="841248" cy="5029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627632"/>
          <a:ext cx="11057838" cy="321868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4523661"/>
                <a:gridCol w="2680688"/>
                <a:gridCol w="3853489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做法</a:t>
                      </a:r>
                    </a:p>
                  </a:txBody>
                  <a:tcPr marL="64008" marR="64008" marT="13716" marB="13716" anchor="ctr">
                    <a:solidFill>
                      <a:srgbClr val="0B0B0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前二率</a:t>
                      </a:r>
                    </a:p>
                  </a:txBody>
                  <a:tcPr marL="64008" marR="64008" marT="13716" marB="13716" anchor="ctr">
                    <a:solidFill>
                      <a:srgbClr val="0B0B0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说明</a:t>
                      </a:r>
                    </a:p>
                  </a:txBody>
                  <a:tcPr marL="64008" marR="64008" marT="13716" marB="13716" anchor="ctr">
                    <a:solidFill>
                      <a:srgbClr val="0B0B0B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只当 1 家公司的董事长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18.4%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等于把决策权让给别人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私营支出 &gt; 起始资金 83%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34.2%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SR1 直接没钱开公司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在 SR1 开 JGG（京广）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36.2%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北京四家互抢道，紫色最吃亏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在 SR1–2 开 QSR / JLR / WNR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33–38%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弱公司早开 = 高价买弱资产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买入 P5（詹天佑）单张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41.1%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阶段 D 才生效的许可，来得太晚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在 OR8–10 才给公司攒钱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垫资均值 ¥568/次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见第七章危机日历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动用个人贷款（50% 利息）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19.8%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已在输的路上的信号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有人在你公司加仓却不理会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28.6%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52514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被买入夺权的 28 位原董事长</a:t>
                      </a:r>
                    </a:p>
                  </a:txBody>
                  <a:tcPr marL="64008" marR="64008" marT="13716" marB="13716" anchor="ctr">
                    <a:solidFill>
                      <a:srgbClr val="F2F1EC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566928" y="4956048"/>
            <a:ext cx="11057839" cy="658368"/>
          </a:xfrm>
          <a:prstGeom prst="rect">
            <a:avLst/>
          </a:prstGeom>
          <a:solidFill>
            <a:srgbClr val="F2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4956048"/>
            <a:ext cx="50292" cy="65836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" y="4956048"/>
            <a:ext cx="10618927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2A78D6"/>
                </a:solidFill>
                <a:latin typeface="Microsoft YaHei"/>
                <a:ea typeface="Microsoft YaHei"/>
                <a:cs typeface="Microsoft YaHei"/>
              </a:rPr>
              <a:t>头衔提醒：</a:t>
            </a:r>
            <a:r>
              <a:rPr sz="1200" b="0" i="0">
                <a:solidFill>
                  <a:srgbClr val="0B0B0B"/>
                </a:solidFill>
                <a:latin typeface="Microsoft YaHei"/>
                <a:ea typeface="Microsoft YaHei"/>
                <a:cs typeface="Microsoft YaHei"/>
              </a:rPr>
              <a:t>本作冠军与亚军的中位差距只有 ¥521——上面每一条都可能就是那 ¥521。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28232"/>
            <a:ext cx="663470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98781"/>
                </a:solidFill>
                <a:latin typeface="Microsoft YaHei"/>
                <a:ea typeface="Microsoft YaHei"/>
                <a:cs typeface="Microsoft YaHei"/>
              </a:rPr>
              <a:t>数据：18xx.games ｜ 分析：Pig9013 ｜ 模型：Deepseek-flash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01631" y="6428232"/>
            <a:ext cx="4423135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98781"/>
                </a:solidFill>
                <a:latin typeface="Microsoft YaHei"/>
                <a:ea typeface="Microsoft YaHei"/>
                <a:cs typeface="Microsoft YaHei"/>
              </a:rPr>
              <a:t>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34440" y="2103120"/>
            <a:ext cx="100584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400" b="1" i="0">
                <a:solidFill>
                  <a:srgbClr val="2A78D6"/>
                </a:solidFill>
                <a:latin typeface="Microsoft YaHei"/>
                <a:ea typeface="Microsoft YaHei"/>
                <a:cs typeface="Microsoft YaHei"/>
              </a:rPr>
              <a:t>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310896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0B0B0B"/>
                </a:solidFill>
                <a:latin typeface="Microsoft YaHei"/>
                <a:ea typeface="Microsoft YaHei"/>
                <a:cs typeface="Microsoft YaHei"/>
              </a:rPr>
              <a:t>上桌速查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3913632"/>
            <a:ext cx="9144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52514E"/>
                </a:solidFill>
                <a:latin typeface="Microsoft YaHei"/>
                <a:ea typeface="Microsoft YaHei"/>
                <a:cs typeface="Microsoft YaHei"/>
              </a:rPr>
              <a:t>把八章压成一张能背的清单。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28232"/>
            <a:ext cx="663470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98781"/>
                </a:solidFill>
                <a:latin typeface="Microsoft YaHei"/>
                <a:ea typeface="Microsoft YaHei"/>
                <a:cs typeface="Microsoft YaHei"/>
              </a:rPr>
              <a:t>数据：18xx.games ｜ 分析：Pig9013 ｜ 模型：Deepseek-flash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01631" y="6428232"/>
            <a:ext cx="4423135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98781"/>
                </a:solidFill>
                <a:latin typeface="Microsoft YaHei"/>
                <a:ea typeface="Microsoft YaHei"/>
                <a:cs typeface="Microsoft YaHei"/>
              </a:rPr>
              <a:t>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A78D6"/>
                </a:solidFill>
                <a:latin typeface="Microsoft YaHei"/>
                <a:ea typeface="Microsoft YaHei"/>
                <a:cs typeface="Microsoft YaHei"/>
              </a:rPr>
              <a:t>09 速查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03504"/>
            <a:ext cx="11057839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B0B0B"/>
                </a:solidFill>
                <a:latin typeface="Microsoft YaHei"/>
                <a:ea typeface="Microsoft YaHei"/>
                <a:cs typeface="Microsoft YaHei"/>
              </a:rPr>
              <a:t>开局 + 运营（13 条里的前 9 条）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33856"/>
            <a:ext cx="841248" cy="5029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655064"/>
            <a:ext cx="41148" cy="146304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1627632"/>
            <a:ext cx="10874959" cy="15179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0B0B0B"/>
                </a:solidFill>
                <a:latin typeface="Microsoft YaHei"/>
                <a:ea typeface="Microsoft YaHei"/>
                <a:cs typeface="Microsoft YaHei"/>
              </a:rPr>
              <a:t>开局（拍卖 + SR1）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52514E"/>
                </a:solidFill>
                <a:latin typeface="Microsoft YaHei"/>
                <a:ea typeface="Microsoft YaHei"/>
                <a:cs typeface="Microsoft YaHei"/>
              </a:rPr>
              <a:t>1. 私营买 3–4 张，但必须留得下开一家公司的钱（禁线：花掉 &gt;83% 起始资金）。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52514E"/>
                </a:solidFill>
                <a:latin typeface="Microsoft YaHei"/>
                <a:ea typeface="Microsoft YaHei"/>
                <a:cs typeface="Microsoft YaHei"/>
              </a:rPr>
              <a:t>2. 首选 P3（台湾西部线，59.5%）；组合选 P0+P6（58.1%）或 P4+P6（55.6%）。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52514E"/>
                </a:solidFill>
                <a:latin typeface="Microsoft YaHei"/>
                <a:ea typeface="Microsoft YaHei"/>
                <a:cs typeface="Microsoft YaHei"/>
              </a:rPr>
              <a:t>3. P6 是最划算的一笔：它 = BCR 董事证书 + 第一顺位挑投资者（341 局零例外）。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52514E"/>
                </a:solidFill>
                <a:latin typeface="Microsoft YaHei"/>
                <a:ea typeface="Microsoft YaHei"/>
                <a:cs typeface="Microsoft YaHei"/>
              </a:rPr>
              <a:t>4. 底价成交只有 1.2%，且只在「仅 1 家出价」时——不要指望捡漏。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52514E"/>
                </a:solidFill>
                <a:latin typeface="Microsoft YaHei"/>
                <a:ea typeface="Microsoft YaHei"/>
                <a:cs typeface="Microsoft YaHei"/>
              </a:rPr>
              <a:t>5. SR1 只抢 HKR；JHU/JHA/NJR/SCR/CKR 合格；JGG/QSR/JLR/WNR 不要在 SR1 碰。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3337560"/>
            <a:ext cx="41148" cy="1225295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3310128"/>
            <a:ext cx="10874959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0B0B0B"/>
                </a:solidFill>
                <a:latin typeface="Microsoft YaHei"/>
                <a:ea typeface="Microsoft YaHei"/>
                <a:cs typeface="Microsoft YaHei"/>
              </a:rPr>
              <a:t>参股与运营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52514E"/>
                </a:solidFill>
                <a:latin typeface="Microsoft YaHei"/>
                <a:ea typeface="Microsoft YaHei"/>
                <a:cs typeface="Microsoft YaHei"/>
              </a:rPr>
              <a:t>6. 标准开局 par=100 + 20% 证书 + ABC 三阶段许可；后发公司用 par=70–80 + 40%。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52514E"/>
                </a:solidFill>
                <a:latin typeface="Microsoft YaHei"/>
                <a:ea typeface="Microsoft YaHei"/>
                <a:cs typeface="Microsoft YaHei"/>
              </a:rPr>
              <a:t>7. 车流：2 车 OR1 售罄｜3 车 OR3｜4 车 OR5｜6 车 OR6｜6E OR7｜8 车 OR9｜8E OR10。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52514E"/>
                </a:solidFill>
                <a:latin typeface="Microsoft YaHei"/>
                <a:ea typeface="Microsoft YaHei"/>
                <a:cs typeface="Microsoft YaHei"/>
              </a:rPr>
              <a:t>8. OR8 前给每家备好 ¥800（8 车的钱）——否则 OR8–10 的垫资会掏空你个人。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52514E"/>
                </a:solidFill>
                <a:latin typeface="Microsoft YaHei"/>
                <a:ea typeface="Microsoft YaHei"/>
                <a:cs typeface="Microsoft YaHei"/>
              </a:rPr>
              <a:t>9. 2R（¥250）是止血药不是补药；换车（¥1–¥300）才是集团内输血的常规手段。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28232"/>
            <a:ext cx="663470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98781"/>
                </a:solidFill>
                <a:latin typeface="Microsoft YaHei"/>
                <a:ea typeface="Microsoft YaHei"/>
                <a:cs typeface="Microsoft YaHei"/>
              </a:rPr>
              <a:t>数据：18xx.games ｜ 分析：Pig9013 ｜ 模型：Deepseek-flash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01631" y="6428232"/>
            <a:ext cx="4423135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98781"/>
                </a:solidFill>
                <a:latin typeface="Microsoft YaHei"/>
                <a:ea typeface="Microsoft YaHei"/>
                <a:cs typeface="Microsoft YaHei"/>
              </a:rPr>
              <a:t>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A78D6"/>
                </a:solidFill>
                <a:latin typeface="Microsoft YaHei"/>
                <a:ea typeface="Microsoft YaHei"/>
                <a:cs typeface="Microsoft YaHei"/>
              </a:rPr>
              <a:t>09 速查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03504"/>
            <a:ext cx="11057839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B0B0B"/>
                </a:solidFill>
                <a:latin typeface="Microsoft YaHei"/>
                <a:ea typeface="Microsoft YaHei"/>
                <a:cs typeface="Microsoft YaHei"/>
              </a:rPr>
              <a:t>投资者 + 危机 + 终局（后 4 条与三条底线）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33856"/>
            <a:ext cx="841248" cy="5029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655064"/>
            <a:ext cx="41148" cy="1225295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1627632"/>
            <a:ext cx="10874959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0B0B0B"/>
                </a:solidFill>
                <a:latin typeface="Microsoft YaHei"/>
                <a:ea typeface="Microsoft YaHei"/>
                <a:cs typeface="Microsoft YaHei"/>
              </a:rPr>
              <a:t>投资者与终局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52514E"/>
                </a:solidFill>
                <a:latin typeface="Microsoft YaHei"/>
                <a:ea typeface="Microsoft YaHei"/>
                <a:cs typeface="Microsoft YaHei"/>
              </a:rPr>
              <a:t>10. 挑投资者按「能不能连通我当董事长的公司」：葡/英 → HKR（上海）；法 → BCR（成都）；俄/德/比 → 北京四家。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52514E"/>
                </a:solidFill>
                <a:latin typeface="Microsoft YaHei"/>
                <a:ea typeface="Microsoft YaHei"/>
                <a:cs typeface="Microsoft YaHei"/>
              </a:rPr>
              <a:t>11. 合并时选「全额转给公司」（95.2% 的人都这么干）。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52514E"/>
                </a:solidFill>
                <a:latin typeface="Microsoft YaHei"/>
                <a:ea typeface="Microsoft YaHei"/>
                <a:cs typeface="Microsoft YaHei"/>
              </a:rPr>
              <a:t>12. 终点固定：第二次 8 车后每家再运营 3 次（OR 恒为 10）。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52514E"/>
                </a:solidFill>
                <a:latin typeface="Microsoft YaHei"/>
                <a:ea typeface="Microsoft YaHei"/>
                <a:cs typeface="Microsoft YaHei"/>
              </a:rPr>
              <a:t>13. 冠军与亚军中位差距 ¥521——最后三轮的每一次派息/垫资都可能翻盘。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3099815"/>
            <a:ext cx="41148" cy="98755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3072384"/>
            <a:ext cx="10874959" cy="10424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0B0B0B"/>
                </a:solidFill>
                <a:latin typeface="Microsoft YaHei"/>
                <a:ea typeface="Microsoft YaHei"/>
                <a:cs typeface="Microsoft YaHei"/>
              </a:rPr>
              <a:t>三条底线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52514E"/>
                </a:solidFill>
                <a:latin typeface="Microsoft YaHei"/>
                <a:ea typeface="Microsoft YaHei"/>
                <a:cs typeface="Microsoft YaHei"/>
              </a:rPr>
              <a:t>· 有人在你公司加仓时「不理会」= 负 EV（被夺权者前二率 28.6%）。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52514E"/>
                </a:solidFill>
                <a:latin typeface="Microsoft YaHei"/>
                <a:ea typeface="Microsoft YaHei"/>
                <a:cs typeface="Microsoft YaHei"/>
              </a:rPr>
              <a:t>· 一旦动用 50% 利息的个人贷款，你已经在输的路上（19.8%）。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52514E"/>
                </a:solidFill>
                <a:latin typeface="Microsoft YaHei"/>
                <a:ea typeface="Microsoft YaHei"/>
                <a:cs typeface="Microsoft YaHei"/>
              </a:rPr>
              <a:t>· 车站优先放天津（60.3%）、L14 走廊（60.0%）；避开吉林市（38.4%）、大连（39.1%）。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28232"/>
            <a:ext cx="663470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98781"/>
                </a:solidFill>
                <a:latin typeface="Microsoft YaHei"/>
                <a:ea typeface="Microsoft YaHei"/>
                <a:cs typeface="Microsoft YaHei"/>
              </a:rPr>
              <a:t>数据：18xx.games ｜ 分析：Pig9013 ｜ 模型：Deepseek-flash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01631" y="6428232"/>
            <a:ext cx="4423135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98781"/>
                </a:solidFill>
                <a:latin typeface="Microsoft YaHei"/>
                <a:ea typeface="Microsoft YaHei"/>
                <a:cs typeface="Microsoft YaHei"/>
              </a:rPr>
              <a:t>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A78D6"/>
                </a:solidFill>
                <a:latin typeface="Microsoft YaHei"/>
                <a:ea typeface="Microsoft YaHei"/>
                <a:cs typeface="Microsoft YaHei"/>
              </a:rPr>
              <a:t>10 方法与局限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03504"/>
            <a:ext cx="11057839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B0B0B"/>
                </a:solidFill>
                <a:latin typeface="Microsoft YaHei"/>
                <a:ea typeface="Microsoft YaHei"/>
                <a:cs typeface="Microsoft YaHei"/>
              </a:rPr>
              <a:t>工具链全部可复现；六条局限请先读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33856"/>
            <a:ext cx="841248" cy="5029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655064"/>
            <a:ext cx="41148" cy="74980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1627632"/>
            <a:ext cx="10874959" cy="804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0B0B0B"/>
                </a:solidFill>
                <a:latin typeface="Microsoft YaHei"/>
                <a:ea typeface="Microsoft YaHei"/>
                <a:cs typeface="Microsoft YaHei"/>
              </a:rPr>
              <a:t>工具链（D:/兵棋/18xx/_tools/）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52514E"/>
                </a:solidFill>
                <a:latin typeface="Microsoft YaHei"/>
                <a:ea typeface="Microsoft YaHei"/>
                <a:cs typeface="Microsoft YaHei"/>
              </a:rPr>
              <a:t>split_1880_cases.py（切分去重）→ parse_1880_log.py（对账，1564/1564 = 100.00%）→ extract_1880.py（41 MB JSON）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52514E"/>
                </a:solidFill>
                <a:latin typeface="Microsoft YaHei"/>
                <a:ea typeface="Microsoft YaHei"/>
                <a:cs typeface="Microsoft YaHei"/>
              </a:rPr>
              <a:t>rating2_1880.py（RR + BT）→ analyze_1880.py / stats2 / stats3 / stats4（四个专题脚本，共 22 个子命令）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2624327"/>
            <a:ext cx="41148" cy="170078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2596896"/>
            <a:ext cx="10874959" cy="1755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0B0B0B"/>
                </a:solidFill>
                <a:latin typeface="Microsoft YaHei"/>
                <a:ea typeface="Microsoft YaHei"/>
                <a:cs typeface="Microsoft YaHei"/>
              </a:rPr>
              <a:t>六条局限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52514E"/>
                </a:solidFill>
                <a:latin typeface="Microsoft YaHei"/>
                <a:ea typeface="Microsoft YaHei"/>
                <a:cs typeface="Microsoft YaHei"/>
              </a:rPr>
              <a:t>① 样本以 4 人局为主（46.9%），6–7 人局合计仅 9.4%；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52514E"/>
                </a:solidFill>
                <a:latin typeface="Microsoft YaHei"/>
                <a:ea typeface="Microsoft YaHei"/>
                <a:cs typeface="Microsoft YaHei"/>
              </a:rPr>
              <a:t>② 517 名玩家里 448 人不足 5 局，分层只对 n≥8 的 36 人成立；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52514E"/>
                </a:solidFill>
                <a:latin typeface="Microsoft YaHei"/>
                <a:ea typeface="Microsoft YaHei"/>
                <a:cs typeface="Microsoft YaHei"/>
              </a:rPr>
              <a:t>③ 分层对比是描述性的，不是因果（top 卖股多，可能是领先带来的腾挪空间）；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52514E"/>
                </a:solidFill>
                <a:latin typeface="Microsoft YaHei"/>
                <a:ea typeface="Microsoft YaHei"/>
                <a:cs typeface="Microsoft YaHei"/>
              </a:rPr>
              <a:t>④ 「晚期开公司前二率 60%+」有选择效应，不能当作「前期不动」的理由；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52514E"/>
                </a:solidFill>
                <a:latin typeface="Microsoft YaHei"/>
                <a:ea typeface="Microsoft YaHei"/>
                <a:cs typeface="Microsoft YaHei"/>
              </a:rPr>
              <a:t>⑤ 熟人局仅 56 局，不足以复现 1846 的结论；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52514E"/>
                </a:solidFill>
                <a:latin typeface="Microsoft YaHei"/>
                <a:ea typeface="Microsoft YaHei"/>
                <a:cs typeface="Microsoft YaHei"/>
              </a:rPr>
              <a:t>⑥ 公司结论可跨局套用（本作无随机属性），但玩家 meta 会演进。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28232"/>
            <a:ext cx="663470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98781"/>
                </a:solidFill>
                <a:latin typeface="Microsoft YaHei"/>
                <a:ea typeface="Microsoft YaHei"/>
                <a:cs typeface="Microsoft YaHei"/>
              </a:rPr>
              <a:t>数据：18xx.games ｜ 分析：Pig9013 ｜ 模型：Deepseek-flash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01631" y="6428232"/>
            <a:ext cx="4423135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98781"/>
                </a:solidFill>
                <a:latin typeface="Microsoft YaHei"/>
                <a:ea typeface="Microsoft YaHei"/>
                <a:cs typeface="Microsoft YaHei"/>
              </a:rPr>
              <a:t>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10312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0B0B0B"/>
                </a:solidFill>
                <a:latin typeface="Microsoft YaHei"/>
                <a:ea typeface="Microsoft YaHei"/>
                <a:cs typeface="Microsoft YaHei"/>
              </a:rPr>
              <a:t>1880 China 深度分析（341 局）· v1.2</a:t>
            </a:r>
          </a:p>
        </p:txBody>
      </p:sp>
      <p:sp>
        <p:nvSpPr>
          <p:cNvPr id="5" name="Rectangle 4"/>
          <p:cNvSpPr/>
          <p:nvPr/>
        </p:nvSpPr>
        <p:spPr>
          <a:xfrm>
            <a:off x="1097280" y="3310128"/>
            <a:ext cx="1463040" cy="548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3584448"/>
            <a:ext cx="100584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300" b="0" i="0">
                <a:solidFill>
                  <a:srgbClr val="52514E"/>
                </a:solidFill>
                <a:latin typeface="Microsoft YaHei"/>
                <a:ea typeface="Microsoft YaHei"/>
                <a:cs typeface="Microsoft YaHei"/>
              </a:rPr>
              <a:t>分析人：Pig9013 ｜ 使用模型：Deepseek-flash ｜ 整理日期：2026-09-22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0B0B0B"/>
                </a:solidFill>
                <a:latin typeface="Microsoft YaHei"/>
                <a:ea typeface="Microsoft YaHei"/>
                <a:cs typeface="Microsoft YaHei"/>
              </a:rPr>
              <a:t>致谢：全部对局数据来自 18xx.games 及在该网站上游玩的玩家们——是他们无偿公开的游玩记录，造就了这些分析。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5157216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98781"/>
                </a:solidFill>
                <a:latin typeface="Microsoft YaHei"/>
                <a:ea typeface="Microsoft YaHei"/>
                <a:cs typeface="Microsoft YaHei"/>
              </a:rPr>
              <a:t>完整报告：复盘分析/1880China/1880China深度分析（341局）.md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