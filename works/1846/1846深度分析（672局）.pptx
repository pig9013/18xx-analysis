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1732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18XX 系列 · 铁路经营桌游 · 数据复盘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241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54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1846 深度分析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The Race for the Midwest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529584"/>
            <a:ext cx="146304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803904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672 局唯一对局 ｜ 2740 个玩家场次 ｜ 551 名玩家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逐玩家净资产重算 2740/2740 = 100.0% 与日志官方结算精确吻合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504688"/>
            <a:ext cx="102412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分析人：Pig9013 ｜ 使用模型：Deepseek-flash ｜ 整理日期：2026-09-17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致谢：全部对局数据来自 18xx.games 及在该网站上游玩的玩家们——是他们无偿公开的游玩记录，造就了这些分析。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六个部分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11057839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554480"/>
            <a:ext cx="50292" cy="67665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36776"/>
            <a:ext cx="10600639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一、数据与玩家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§0 数据与对账 ｜ §1 玩家层 ｜ §2 熟人局 vs 路人局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327148"/>
            <a:ext cx="11057839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327148"/>
            <a:ext cx="50292" cy="67665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409444"/>
            <a:ext cx="10600639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二、开局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§3 车站勘误 ｜ §4 顺位与公司选择 ｜ §5 私营搭配 ｜ §6 招股价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099815"/>
            <a:ext cx="11057839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099815"/>
            <a:ext cx="50292" cy="67665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182111"/>
            <a:ext cx="10600639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三、运营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§7 车站策略 ｜ §8 火车与爆车 ｜ §9 公司间倒车 ｜ §10 小公司转让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872483"/>
            <a:ext cx="11057839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872483"/>
            <a:ext cx="50292" cy="67665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954779"/>
            <a:ext cx="10600639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四、公司与股份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§11 分层差异 ｜ §12 股份安排 ｜ §13 公司定位 ｜ §14 发起决策 ｜ §15 七家画像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645151"/>
            <a:ext cx="11057839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645151"/>
            <a:ext cx="50292" cy="67665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727447"/>
            <a:ext cx="10600639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五、打法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§16 TOP 打法 vs 最差打法 ｜ §17 IC 爆破 ｜ §18 开局四轮 ｜ §19 速查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5417819"/>
            <a:ext cx="11057839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5417819"/>
            <a:ext cx="50292" cy="676656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500115"/>
            <a:ext cx="10600639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六、方法与风格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§20 方法与局限 ｜ §21 高分段玩家风格画像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10312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§0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1089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数据与对账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913632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672 局是怎么来的，凭什么可以信。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§0 数据与对账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样本规模与可信度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36192"/>
            <a:ext cx="2613583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2613583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55648"/>
            <a:ext cx="2247823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672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唯一对局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96 个源文件 · 切出 734 局 · 去重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1679" y="1536192"/>
            <a:ext cx="2613583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1679" y="1536192"/>
            <a:ext cx="2613583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4559" y="1755648"/>
            <a:ext cx="2247823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2740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玩家场次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551 名玩家 · 3人 62／4人 461／5人 142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6431" y="1536192"/>
            <a:ext cx="2613583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6431" y="1536192"/>
            <a:ext cx="2613583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9311" y="1755648"/>
            <a:ext cx="2247823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100.0%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对账吻合率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2740/2740 逐人精确吻合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11183" y="1536192"/>
            <a:ext cx="2613583" cy="1664208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11183" y="1536192"/>
            <a:ext cx="2613583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94063" y="1755648"/>
            <a:ext cx="2247823" cy="13350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2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5.80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每局发起公司数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7 家里平均开出 5.8 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3502151"/>
            <a:ext cx="41148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474720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逐玩家重算净资产，与日志官方结算分毫不差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现金 + Σ(持股 × 终局股价) = 官方终局资产。这是全文唯一的质量闸门——对账不过，一个结论都不下。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233672"/>
            <a:ext cx="41148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4206240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去重按内容 sha1，不按文件名或编号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734 局里剔掉 62 局重复。历史教训：72 局旧稿实际只有 66 局唯一；167 局稿与 312 局稿之间大量重叠——不去重会虚增样本。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4965192"/>
            <a:ext cx="41148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4937759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7 局两人变体单独标记、排除主统计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起始资金、持股上限、Phase IV 车数都不同；主统计样本 665 局。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§0 数据与对账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总体盘面与基线数字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81912"/>
            <a:ext cx="41148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554480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97% 的对局打满全程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648/665 局进行到 Phase IV 自然终局；手动结束仅 32 局（4.8%）。1846 是个「跑得完」的游戏。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313432"/>
            <a:ext cx="41148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86000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回合数中位 15，均值 16.2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终局资产中位 $6138、均值 $6024、最高 $11442。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044951"/>
            <a:ext cx="41148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017520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七家公司的出场率本身就是信号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IC 664（99.9%）｜NYC 661｜B&amp;O 658｜GT 633｜PRR 440（66.2%）｜C&amp;O 418（62.9%）｜ERIE 385（57.9%）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776472"/>
            <a:ext cx="41148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749039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每局平均只发起 5.80 家公司（共 7 家）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也就是说每局有 1.2 家公司根本没被开出来。「哪家没被开出来」本身就是信号。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626864"/>
            <a:ext cx="11057839" cy="658368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626864"/>
            <a:ext cx="50292" cy="65836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4626864"/>
            <a:ext cx="1061892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基线：全体玩家均名次 2.60，胜率 24%。</a:t>
            </a:r>
            <a:r>
              <a:rPr sz="13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全文所有「残差」= 实际名次 − 按 BT 实力分预测的名次，负值 = 打得比自己的水平更好。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5449824"/>
            <a:ext cx="11057839" cy="658368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5449824"/>
            <a:ext cx="50292" cy="658368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5449824"/>
            <a:ext cx="1061892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ERIE 与 C&amp;O 的 par 下限是 $100（起始价只能在黄色区高端），PRR 是被更强的公司挤压——这三家的「弱」从出场率上就看得出。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10312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§1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1089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玩家层：前二制 rank rating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913632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先分层，再下结论——否则就是拿结果解释结果。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§1 玩家层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三个基础口径（读者必看）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81912"/>
            <a:ext cx="41148" cy="74980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554480"/>
            <a:ext cx="10874959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归一化名次 =(名次−1)/(人数−1)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为什么不能直接用场均名次：场均名次不可跨人数比较——理论均值随人数线性变化（3人局 2.0／4人局 2.5／5人局 3.0）。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归一化后 0 = 第一，0.5 = 中位，1 = 末位，跨人数可比。全文涉及名次的统计一律用它。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551175"/>
            <a:ext cx="41148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523744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前二率 = 名次 ≤2 的比例，只在 ≥4 人局统计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2 人局里「前二」恒等于全员；3 人局里「前二」占 2/3——都没有区分度。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282695"/>
            <a:ext cx="41148" cy="74980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3255263"/>
            <a:ext cx="10874959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前二制 rank rating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第 1 名 +2、第 2 名 +1、第 3 名起 −(rank−2)。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建模时只构造「前二 vs 非前二」比较对：第 1 与第 2 之间不比、第 3 与第 4 之间不比。共 2820 组比较对。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4974336"/>
            <a:ext cx="11057839" cy="658368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4974336"/>
            <a:ext cx="50292" cy="65836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4974336"/>
            <a:ext cx="1061892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RR 分与「名次分」的相关系数 r = +0.932（n=113）——换口径没有改变结论方向，只是让排序更贴合实际计分规则。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5742432"/>
            <a:ext cx="11057839" cy="566928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5742432"/>
            <a:ext cx="50292" cy="566928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5742432"/>
            <a:ext cx="106189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自洽性检验：模型预测的两两胜率与实际胜率，样本 ≥15 局玩家的平均偏差约 2 个百分点。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§1 玩家层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实力榜（样本 ≥5 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⚠ 样本量决定怎么读：区间宽度就是可信度。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572768"/>
          <a:ext cx="11057836" cy="34975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064220"/>
                <a:gridCol w="932588"/>
                <a:gridCol w="1265656"/>
                <a:gridCol w="1998404"/>
                <a:gridCol w="1398883"/>
                <a:gridCol w="1265656"/>
                <a:gridCol w="1132429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玩家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局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RR 分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90% 区间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名次分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前二率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夺冠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Amori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A78D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2236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2027–2283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+1.56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94%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71%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Mr_Ball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2165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1815–2161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+1.40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SweetShang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2138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1871–2182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+1.20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86%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53%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Calmon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2116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1909–2175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+1.36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89%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61%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Båtsman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2014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1806–2102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+1.03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83%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玩家2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1923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1725–1916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+1.89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89%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2A78D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玩家6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89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1862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1738–1883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+0.70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71%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2A78D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玩家9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114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1850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1729–1864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+0.66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68%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2A78D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玩家12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162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1818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1713–1839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+0.48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65%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2A78D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玩家16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170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1775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1667–1790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+0.36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29%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玩家41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D03B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789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839–948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−1.94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66928" y="5431536"/>
            <a:ext cx="11057839" cy="768096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5431536"/>
            <a:ext cx="50292" cy="768096"/>
          </a:xfrm>
          <a:prstGeom prst="rect">
            <a:avLst/>
          </a:prstGeom>
          <a:solidFill>
            <a:srgbClr val="FAB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5431536"/>
            <a:ext cx="10618927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玩家16（170 局）、玩家12（162 局）、玩家9（114 局）区间宽度只有 ±60–80 分，是全文最扎实的个体估计；Mr_Ball（5 局）区间宽达 346 分，不能与 Amori（34 局）等同看待。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§1 玩家层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分层：全文所有「组间差异」的基础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355183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554480"/>
            <a:ext cx="3551834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73936"/>
            <a:ext cx="3186074" cy="1408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TOP  9 人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RR 分前 9 名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Amori、Mr_Ball、SweetShang、Turnkey、Calmon、petersoncr1、Båtsman、AJ、FlyingSickle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9930" y="1554480"/>
            <a:ext cx="355183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19930" y="1554480"/>
            <a:ext cx="3551834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2810" y="1773936"/>
            <a:ext cx="3186074" cy="1408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MID  27 人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1600 ≤ RR &lt; 1900 且 ≥8 局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——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72932" y="1554480"/>
            <a:ext cx="3551834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72932" y="1554480"/>
            <a:ext cx="3551834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5812" y="1773936"/>
            <a:ext cx="3186074" cy="14081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BOT  31 人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RR &lt; 1600 且 ≥8 局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——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529584"/>
            <a:ext cx="11057839" cy="841248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529584"/>
            <a:ext cx="50292" cy="8412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529584"/>
            <a:ext cx="10618927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为什么用实力分分层，而不是用名次？</a:t>
            </a:r>
            <a:r>
              <a:rPr sz="13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如果用「场均名次」把玩家分成 TOP/MID/BOT，再用「TOP 的做法」去解释成功——那是拿结果解释结果。所以本文用 Bradley-Terry（只吃「两两谁赢」）作为独立于结论的估计。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4535424"/>
            <a:ext cx="11057839" cy="713232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535424"/>
            <a:ext cx="50292" cy="713232"/>
          </a:xfrm>
          <a:prstGeom prst="rect">
            <a:avLst/>
          </a:prstGeom>
          <a:solidFill>
            <a:srgbClr val="FAB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4535424"/>
            <a:ext cx="10618927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AB219"/>
                </a:solidFill>
                <a:latin typeface="Microsoft YaHei"/>
                <a:ea typeface="Microsoft YaHei"/>
                <a:cs typeface="Microsoft YaHei"/>
              </a:rPr>
              <a:t>⚠ 仍有残余循环：</a:t>
            </a:r>
            <a:r>
              <a:rPr sz="13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实力分本身也是从名次推出来的。所以「某行为好」的结论要用残差口径读，且不要把残差当因果。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10312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§2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1089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熟人局 vs 路人局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913632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两个游戏、两个独立数据集，指向同一个结论。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§2 熟人局 vs 路人局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判据与划分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判据：对局内两两组合中，「同场过 ≥2 局」的对子占比。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636776"/>
            <a:ext cx="41148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609344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1846 的分布是三峰的——牌局生态比 1862 更「混合」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0.0 有 86 局、1.0 有 191 局，中间还堆着 388 局（0.2–0.8 都有分布）。1862 的同一指标是完美双峰。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395728"/>
          <a:ext cx="11057836" cy="131673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589676"/>
                <a:gridCol w="1458176"/>
                <a:gridCol w="1822720"/>
                <a:gridCol w="2187264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局型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局数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玩家场次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人均分红收入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熟人局（每对都同场过 ≥2 次）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191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752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$3309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混合局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388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1657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$3240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路人局（没有任何一对重复同场）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86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331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A78D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$3542 ↑最高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66928" y="3913632"/>
            <a:ext cx="11057839" cy="896112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913632"/>
            <a:ext cx="50292" cy="89611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3913632"/>
            <a:ext cx="10618927" cy="8961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B6834"/>
                </a:solidFill>
                <a:latin typeface="Microsoft YaHei"/>
                <a:ea typeface="Microsoft YaHei"/>
                <a:cs typeface="Microsoft YaHei"/>
              </a:rPr>
              <a:t>反直觉：</a:t>
            </a:r>
            <a:r>
              <a:rPr sz="13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路人局的人均分红收入最高（$3542），熟人局反而最低（$3309）。可能的解释：熟人局互相卡位、互相压价，导致全场总收入下降；路人局各跑各的，反而各得其所。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974336"/>
            <a:ext cx="11057839" cy="621792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4974336"/>
            <a:ext cx="50292" cy="6217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4974336"/>
            <a:ext cx="10618927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去陌生桌，照「数据版最优解」打就行；回自己群里，必须先想到「我的标准解会被谁预判、怎么反制」。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§2 熟人局 vs 路人局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【核心】水平在路人局里作用更强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famili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8064" y="1463040"/>
            <a:ext cx="6975565" cy="30175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4681728"/>
            <a:ext cx="11057839" cy="731520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4681728"/>
            <a:ext cx="50292" cy="7315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4681728"/>
            <a:ext cx="1061892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1846：</a:t>
            </a:r>
            <a:r>
              <a:rPr sz="13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路人局里，水平对结果的解释力比熟人局高 26%（|r| 0.584 vs 0.463）。1862 复现同一规律，且差距更大（+50%）。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541264"/>
            <a:ext cx="11057839" cy="566928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5541264"/>
            <a:ext cx="50292" cy="566928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5541264"/>
            <a:ext cx="106189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陌生桌上，打标准最优解就能赢；熟人桌上，比的是「互相针对」。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10312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§3–§6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1089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开局：勘误、顺位、私营、招股价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913632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开局这半小时，已经决定了后面三个小时。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§3 勘误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车站数量：规则书不写，印在公司面板上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572768"/>
          <a:ext cx="11057837" cy="24094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53127"/>
                <a:gridCol w="2106255"/>
                <a:gridCol w="1474378"/>
                <a:gridCol w="1579691"/>
                <a:gridCol w="4844386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公司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单局最多额外放站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总车站数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出场局数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放站数分布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GT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EB683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585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{0:80, 1:142, 2:443}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IC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613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{0:52, 1:34, 2:114, 3:465}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NYC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624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{0:41, 1:114, 2:191, 3:319}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B&amp;O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630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{0:35, 1:103, 2:208, 3:319}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ERIE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342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{0:323, 1:125, 2:93, 3:124}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C&amp;O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383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{0:282, 1:130, 2:132, 3:121}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PRR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A78D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421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{0:244, 1:70, 2:117, 3:101, 4:133}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3995928"/>
            <a:ext cx="41148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3968496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ERIE 和 C&amp;O 有 94%／74% 的局一枚站都没放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不是不想放，是它们大量在 Phase III 之后才被发起，那时已经没几个回合可放站了。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4727448"/>
            <a:ext cx="41148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4700016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PRR 是唯一能放 5 枚的公司，31% 的局放满 4 枚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这是它唯一的结构性优势——但它的发起者残差仍然全场最差。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458968"/>
            <a:ext cx="41148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5431536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GT 只有 3 枚，却是必须抢芝加哥的公司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站少 + 要抢关键格，这是 GT 的结构性矛盾。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§4 顺位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IC 为什么总被第一个抢：土地拨赠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572768"/>
          <a:ext cx="11057836" cy="21214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62843"/>
                <a:gridCol w="2083360"/>
                <a:gridCol w="2083360"/>
                <a:gridCol w="2724395"/>
                <a:gridCol w="2403878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公司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SR1 出场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平均顺位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1 位被抢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最常见位次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IC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638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A78D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1.78 ↑最快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348（55%）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1 位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NYC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598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2.52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146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2 位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B&amp;O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565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2.74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3 位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GT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509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2.94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4 位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PRR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3.42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4 位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C&amp;O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125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3.66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4 位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ERIE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113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89878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4.21 ↓最慢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4 位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3822191"/>
            <a:ext cx="11057839" cy="786384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3822191"/>
            <a:ext cx="50292" cy="78638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3822191"/>
            <a:ext cx="106189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机制根源：</a:t>
            </a:r>
            <a:r>
              <a:rPr sz="13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规则 §5.35：IC 发起时银行按其招股价再向金库注资一笔，所以 IC 的金库 = 2×par（发起注资）+ 1×par（拨赠）= 3×par。典型开局顺序 IC → NYC → B&amp;O → GT，IC 在 55%（348/638）的对局里被第一个抢。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4718304"/>
            <a:ext cx="3551834" cy="1536192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4718304"/>
            <a:ext cx="3551834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4937760"/>
            <a:ext cx="3186074" cy="12070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$256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IC 均起始金库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同 par 下比 NYC 多 $83（+48%）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9930" y="4718304"/>
            <a:ext cx="3551834" cy="1536192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9930" y="4718304"/>
            <a:ext cx="3551834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2810" y="4937760"/>
            <a:ext cx="3186074" cy="12070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$516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首个 OR 可用现金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折合 3.2 台 2 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72932" y="4718304"/>
            <a:ext cx="3551834" cy="1536192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2932" y="4718304"/>
            <a:ext cx="3551834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55812" y="4937760"/>
            <a:ext cx="3186074" cy="12070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3×par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IC 金库公式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$80 → $240 = 正好 3 台 2 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§4 顺位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发起哪家公司，结局最好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corp_res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658" y="1444752"/>
            <a:ext cx="8684378" cy="312724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4773168"/>
            <a:ext cx="11057839" cy="786384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4773168"/>
            <a:ext cx="50292" cy="786384"/>
          </a:xfrm>
          <a:prstGeom prst="rect">
            <a:avLst/>
          </a:prstGeom>
          <a:solidFill>
            <a:srgbClr val="FAB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4773168"/>
            <a:ext cx="106189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AB219"/>
                </a:solidFill>
                <a:latin typeface="Microsoft YaHei"/>
                <a:ea typeface="Microsoft YaHei"/>
                <a:cs typeface="Microsoft YaHei"/>
              </a:rPr>
              <a:t>⚠ 方法论提醒：</a:t>
            </a:r>
            <a:r>
              <a:rPr sz="13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「发起 IC 的人成绩最好」不等于「IC 让你赢」——抢 IC 的人本身可能是强手。残差列（IC −0.042、PRR +0.070）才是控制水平后的真实效应。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§4 顺位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【反直觉】TOP3 明显避开 IC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572768"/>
          <a:ext cx="11057836" cy="21214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658675"/>
                <a:gridCol w="4423135"/>
                <a:gridCol w="2764459"/>
                <a:gridCol w="2211567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公司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TOP3 的 SR1 定 par 占比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BOT 的占比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差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NYC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28.7%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14.2%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A78D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+14.5pp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B&amp;O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21.8%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15.9%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+5.8pp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PRR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13.9%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12.7%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+1.2pp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GT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12.9%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17.6%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−4.8pp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C&amp;O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9.9%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12.7%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−2.8pp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ERIE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5.9%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11.6%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−5.6pp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IC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6.9%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15.2%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D03B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−8.3pp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3831336"/>
            <a:ext cx="41148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3803904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TOP3 明显避开 IC（6.9% vs BOT 15.2%），尽管 IC 是发起者残差最好的公司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解释一：IC 是「共识强公司」（55% 的局第一个被抢）→ 抢的人多 → par 被推高 → 边际收益下降。TOP3 选的是「次优但竞争少」的 NYC。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4562856"/>
            <a:ext cx="41148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4535424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解释二：IC 的皮包率高达 7%（全场最高）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IC 常被当「提款机」而非「经营对象」——拿拨赠金、不跑车、把钱转给主力公司。TOP3 可能不愿承担「放弃一家公司」的博弈成本。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294376"/>
            <a:ext cx="41148" cy="2743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5266944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数据无法区分这两种解释，但这个「避开共识」的行为本身值得注意。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§4 顺位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OR1.1 倒着来；SR1 出手顺序才有价值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81912"/>
            <a:ext cx="41148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554480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第一个营运轮是倒着来的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规则 §6.1：第一个营运轮的 C 步骤按股价倒序执行。实测：OR1.1 第 1 位公司均 par $64，第 5 位 $96——par 单调上升，规则成立。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2377440"/>
          <a:ext cx="11057835" cy="176936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09957"/>
                <a:gridCol w="1309480"/>
                <a:gridCol w="2618961"/>
                <a:gridCol w="1600476"/>
                <a:gridCol w="2618961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OR1.1 位次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控股者均名次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胜率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校正后残差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1 个动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664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2.54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−0.03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2 个动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663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2.58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−0.02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3 个动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661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2.34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−0.17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4 个动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586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2.61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+0.03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 5 个动*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187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2.84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+0.27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4224528"/>
            <a:ext cx="11057839" cy="841248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4224528"/>
            <a:ext cx="50292" cy="8412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4224528"/>
            <a:ext cx="10618927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结论：</a:t>
            </a:r>
            <a:r>
              <a:rPr sz="13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残差在 −0.17 ~ +0.27 之间，没有单调关系。OR1.1 的出场顺位本身没有独立的胜负价值——顺位表上的「第 3 位最好」只是 par 水平的影子。为了抢先手而压低 par，是拿公司启动资金换一个不值钱的东西。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212080"/>
            <a:ext cx="11057839" cy="731520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5212080"/>
            <a:ext cx="50292" cy="7315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5212080"/>
            <a:ext cx="1061892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SR1 末位出手有真实劣势（残差 +0.40，n=112），因为好公司已被挑走；而出手位次与 BT 分的相关系数 r = −0.008——强手并不显著坐前面。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§5 私营搭配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私营 × 公司：胜率最高的搭配（n ≥ 40）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口径：同一玩家在 SR1 同时持有该私营、并发起该公司。基线 均名次 2.60／胜率 24%。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73936"/>
          <a:ext cx="11057836" cy="27797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782944"/>
                <a:gridCol w="1600476"/>
                <a:gridCol w="1600476"/>
                <a:gridCol w="2327966"/>
                <a:gridCol w="1745974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私营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公司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场次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平均名次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胜率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新兴镇 Boomtown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NYC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42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A78D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2.07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38%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汽船 Steamboat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GT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89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2.18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新兴镇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IC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61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2.18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36%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湖滨线 Lake Shore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IC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2.20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邮政合同 Mail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IC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221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2.21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34%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汽船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B&amp;O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181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2.21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35%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隧道爆破 Tunnel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NYC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69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2.22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0CA30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43% ↑最高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密歇根南方 MS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IC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0B0B0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253 ←样本最厚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2.22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66928" y="4700016"/>
            <a:ext cx="11057839" cy="658368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4700016"/>
            <a:ext cx="50292" cy="65836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4700016"/>
            <a:ext cx="1061892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② </a:t>
            </a:r>
            <a:r>
              <a:rPr sz="13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$40 的私营 + 大公司是最可靠的组合：新兴镇在 NYC 手里 42 局 2.07/38%；汽船在 B&amp;O 手里 181 局 2.21/35%——样本大且成绩好。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522976"/>
            <a:ext cx="11057839" cy="566928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5522976"/>
            <a:ext cx="50292" cy="5669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5522976"/>
            <a:ext cx="106189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① </a:t>
            </a:r>
            <a:r>
              <a:rPr sz="13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私营的本质是「补地理缺陷 + 补收益缺口」，不是补现金。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§5 私营搭配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胜率最低的搭配 与 提升度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609344"/>
          <a:ext cx="11057836" cy="17465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782944"/>
                <a:gridCol w="1600476"/>
                <a:gridCol w="1600476"/>
                <a:gridCol w="2327966"/>
                <a:gridCol w="1745974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私营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公司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场次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平均名次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胜率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密歇根南方 MS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PRR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114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3.15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D03B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12% ↓最低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Big 4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PRR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125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3.14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俄亥俄与印第安纳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PRR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76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3.13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密歇根南方 MS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ERIE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101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3.07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隧道爆破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PRR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3.03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3200400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提升度（1.0 = 无关）：把「这个搭配是不是被刻意选的」量化出来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3529584"/>
          <a:ext cx="11057836" cy="17465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25041"/>
                <a:gridCol w="1322132"/>
                <a:gridCol w="1081745"/>
                <a:gridCol w="2043296"/>
                <a:gridCol w="2043296"/>
                <a:gridCol w="1442326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私营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公司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共现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P(公司｜私营)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基线 P(公司)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提升度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Boomtown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B&amp;O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58.1%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24.0%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A78D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2.42 ↑最强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Steamboat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B&amp;O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181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51.4%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24.0%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2.14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Lake Shore Line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NYC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171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48.6%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24.1%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2.01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Michigan Southern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GT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292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43.9%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23.1%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1.90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Michigan Southern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B&amp;O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62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9.3%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24.0%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D03B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0.39 ↓最强负搭配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5431536"/>
            <a:ext cx="11057839" cy="749808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5431536"/>
            <a:ext cx="50292" cy="74980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5431536"/>
            <a:ext cx="10618927" cy="7498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最差 8 组里 PRR 占 5 个——这些 PRR 大多是「后发」的，晚发 + 地理劣势 = 双重惩罚。反过来用：看到对手拿了 Michigan Southern，他大概率会开 GT，那 B&amp;O 就空出来了。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§6 招股价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par 的甜点区：$80–$90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统计剔除 IC（它有土地拨赠，与其他六家不可比），IC 单独列在后页。</a:t>
            </a:r>
          </a:p>
        </p:txBody>
      </p:sp>
      <p:pic>
        <p:nvPicPr>
          <p:cNvPr id="7" name="Picture 6" descr="par_w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6897" y="1609344"/>
            <a:ext cx="7477900" cy="281635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4608576"/>
            <a:ext cx="11057839" cy="731520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4608576"/>
            <a:ext cx="50292" cy="7315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4608576"/>
            <a:ext cx="1061892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甜点区：</a:t>
            </a:r>
            <a:r>
              <a:rPr sz="13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$90 均名次最好（2.53）、胜率最高（27%）；$80 次之（2.58／26%）。$100 涨得最多（均终价 $366）但胜率掉到 22%——高价 par 把钱锁死，换来的终价优势不足以弥补。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468112"/>
            <a:ext cx="11057839" cy="786384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5468112"/>
            <a:ext cx="50292" cy="786384"/>
          </a:xfrm>
          <a:prstGeom prst="rect">
            <a:avLst/>
          </a:prstGeom>
          <a:solidFill>
            <a:srgbClr val="FAB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5468112"/>
            <a:ext cx="106189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$150 档样本 788 例，几乎全是 SR3+ 的后发公司：它们不是「选择了高价」，而是「没得选」——后发时 2 车已爆，只能直接买 4/6 或 7/8。别把这一档的差成绩读成「高 par 不好」。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§6 招股价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IC 专题：唯一有土地拨赠的公司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36192"/>
            <a:ext cx="11057839" cy="621792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50292" cy="6217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536192"/>
            <a:ext cx="10618927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规则 §5.35：</a:t>
            </a:r>
            <a:r>
              <a:rPr sz="13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IC 的金库 = 3×par。同样 par $85，IC 的金库比 NYC 多 $83（+48%），而且这笔钱是白拿的。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304288"/>
          <a:ext cx="11057836" cy="22814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30915"/>
                <a:gridCol w="1130915"/>
                <a:gridCol w="2136173"/>
                <a:gridCol w="1256572"/>
                <a:gridCol w="1633544"/>
                <a:gridCol w="1759201"/>
                <a:gridCol w="2010516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par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发起者均名次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胜率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均终价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起始金库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折合几台 2 车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$40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~13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2.85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$131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$120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$60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2.54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$311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$180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2.25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$70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72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2.18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$305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$210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2.62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$80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164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A78D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2.29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$369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$240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3.00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$90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66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2.23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0CA30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29% ↑最高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$389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$270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3.38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$100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182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2.35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A78D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$399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$300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3.75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$112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36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$438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$336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4.20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566928" y="4791456"/>
            <a:ext cx="11057839" cy="658368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4791456"/>
            <a:ext cx="50292" cy="65836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4791456"/>
            <a:ext cx="1061892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IC 定价结论：</a:t>
            </a:r>
            <a:r>
              <a:rPr sz="13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拿到 IC 就定 $80–$90：$80 起步正好 3 台 2 车，$90 胜率最高。$100 也可以（终价最高），但名次略降。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5614416"/>
            <a:ext cx="11057839" cy="658368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5614416"/>
            <a:ext cx="50292" cy="658368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5614416"/>
            <a:ext cx="1061892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各组在 SR1 的定价习惯几乎不区分水平（TOP3 中位 $80，MID/BOT 都是 $90，差距只在一档）——差异全在拿到公司之后怎么打。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10312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§7–§10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1089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运营：车站、火车、交易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913632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1846 的「公司间交易」几乎都不是市场，是总裁在搬自家资产。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§7 车站策略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各家把站放在哪（665 局实测）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572768"/>
          <a:ext cx="11057837" cy="24094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76365"/>
                <a:gridCol w="1646912"/>
                <a:gridCol w="823456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公司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场均放站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最常放的三个城市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IC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A78D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2.49 ↑最多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芝加哥×317 ｜ 辛辛那提×274 ｜ 托莱多×183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B&amp;O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2.22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辛辛那提×526 ｜ 芝加哥×221 ｜ 克利夫兰×203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NYC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2.18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克利夫兰×322 ｜ 芝加哥×258 ｜ 托莱多×244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PRR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1.71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韦恩堡×221 ｜ 克利夫兰×176 ｜ 芝加哥×168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GT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芝加哥×289 ｜ 托莱多×288 ｜ 底特律×143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C&amp;O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1.14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辛辛那提×202 ｜ 芝加哥×93 ｜ 代顿×71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29718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ERIE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89878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1.03 ↓最少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伊利×152 ｜ 克利夫兰×151 ｜ 托莱多×64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3995928"/>
            <a:ext cx="41148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3968496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IC 是唯一「全场铺开」的公司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场均 2.49 枚，三大城都放。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4727448"/>
            <a:ext cx="41148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4700016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B&amp;O 的 526 次辛辛那提是全场单一城市的最多次数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这是它的特权所致（下页）。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458968"/>
            <a:ext cx="41148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5431536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ERIE／C&amp;O 场均只放 1.0 枚左右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它们没几个回合可用。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§7 车站策略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B&amp;O 的特权 与 咽喉争夺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36192"/>
            <a:ext cx="3551834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536192"/>
            <a:ext cx="3551834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55648"/>
            <a:ext cx="3186074" cy="1243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66%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B&amp;O 用特权价放站的比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526 次里有 348 次按 $100 未连通特权价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9930" y="1536192"/>
            <a:ext cx="3551834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19930" y="1536192"/>
            <a:ext cx="3551834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2810" y="1755648"/>
            <a:ext cx="3186074" cy="1243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托莱多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全场最有价值的咽喉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首占者 515 局 2.43／胜率 28%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72932" y="1536192"/>
            <a:ext cx="3551834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72932" y="1536192"/>
            <a:ext cx="3551834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5812" y="1755648"/>
            <a:ext cx="3186074" cy="1243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28% / 22%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托莱多 vs 芝加哥 首占者胜率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克利夫兰 21%｜辛辛那提 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291840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更有解释力的是「公司在哪座城真正落了站」（同一家公司，落站 vs 不落站）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66928" y="3621024"/>
          <a:ext cx="11057837" cy="19476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16409"/>
                <a:gridCol w="2106255"/>
                <a:gridCol w="3422664"/>
                <a:gridCol w="2896100"/>
                <a:gridCol w="1316409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公司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落站城市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落站者 均名次 / 胜率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未落站者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差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IC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托莱多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1.99 / 37%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2.55 / 24%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0CA30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−0.56 ↑最大收益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IC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芝加哥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2.44 / 25%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2.20 / 31%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D03B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+0.24 ↓反而更差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GT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芝加哥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2.55 / 25%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2.69 / 18%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−0.14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B&amp;O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辛辛那提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2.29 / 30%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2.61 / 22%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−0.32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NYC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克利夫兰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2.46 / 27%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2.61 / 23%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−0.15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PRR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克利夫兰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2.99 / 17%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3.01 / 15%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−0.02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</a:tbl>
          </a:graphicData>
        </a:graphic>
      </p:graphicFrame>
      <p:sp>
        <p:nvSpPr>
          <p:cNvPr id="17" name="Rectangle 16"/>
          <p:cNvSpPr/>
          <p:nvPr/>
        </p:nvSpPr>
        <p:spPr>
          <a:xfrm>
            <a:off x="566928" y="5632704"/>
            <a:ext cx="11057839" cy="658368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5632704"/>
            <a:ext cx="50292" cy="65836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5632704"/>
            <a:ext cx="1061892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IC 该往托莱多方向打（落站者 1.99/37%，比不落站好 0.56 个名次），不该挤芝加哥——IC 的家底在西北。而 C&amp;O 的托莱多覆盖率只有 89%，它几乎不碰这个最重要的格。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§8 火车与爆车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机制：爆车不是损失，是周期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81912"/>
            <a:ext cx="41148" cy="74980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554480"/>
            <a:ext cx="10874959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Phase III：第一台 4/6 或 5 车被买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所有 2 车变为 obsolete——不能再买、不计入车上限，但还能再跑最后一次。实测：通知发出后公司仍会在自己的回合计一次 2 车收益，跑完立刻移除。665 局共 4623 次 rust 事件。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551175"/>
            <a:ext cx="41148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523744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Phase IV：第一台 7/8 或 6 车被买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所有 3/5 与 4 车同样处理。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63824"/>
            <a:ext cx="11057839" cy="658368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63824"/>
            <a:ext cx="50292" cy="65836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3163824"/>
            <a:ext cx="1061892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所以「爆车」不是损失，是周期。真正的问题是：爆车那一刻，你手里有没有钱换车。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968496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车的能力（N/M 车：可访问 M 城，只计最佳 N 城，且至少一座计分城须有本公司的站）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66928" y="4187952"/>
          <a:ext cx="11057838" cy="21214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143914"/>
                <a:gridCol w="1525219"/>
                <a:gridCol w="5338267"/>
                <a:gridCol w="3050438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车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价格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能力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车上限阶段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$80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访问 ≤2 城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I/II 限 4 台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3/5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$160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访问 5 城，计最佳 3 城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II 限 4 台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$180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访问 ≤4 城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II 限 4 台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2A78D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4/6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$450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访问 6 城，计最佳 4 城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III 限 3 台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$500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访问 ≤5 城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III 限 3 台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$800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访问 ≤6 城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IV 限 2 台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25603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2A78D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7/8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$900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访问 8 城，计最佳 7 城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IV 限 2 台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§8 火车与爆车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各公司的首车组合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统计单位是「组合」不是车型频次；同样的组合在不同公司手里结果完全不同——2+2+2 在 B&amp;O 手里 2.27/36%、NYC 2.42/32%、IC 2.38/23%，差别不在车，在公司后续能不能撑住。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810512"/>
          <a:ext cx="11057837" cy="27569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01206"/>
                <a:gridCol w="2721929"/>
                <a:gridCol w="1360964"/>
                <a:gridCol w="3402412"/>
                <a:gridCol w="1871326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公司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首车组合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发起者均名次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胜率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IC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2+2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196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2.28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IC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2+2+4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1.75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0CA30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54% ↑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IC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2+2+3/5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1.88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IC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55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2.69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NYC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2+2+3/5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44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1.80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0CA30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50% ↑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NYC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2+2+2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149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2.42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NYC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29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3.17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D03B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10% ↓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B&amp;O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2+2+2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143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2.27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36%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2697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B&amp;O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43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3.23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D03B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9% ↓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66928" y="4892040"/>
            <a:ext cx="41148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4864608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掺一台 3/5 是最好的开局改良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NYC 2+2+3/5 → 1.80/50%（44 局）｜IC 2+2+4 → 1.75/54%（24 局）｜IC 2+2+3/5 → 1.88/50%（16 局）。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623560"/>
            <a:ext cx="41148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5596128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只开一台 2 车（2）是最差的开局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IC 2.69/22%｜NYC 3.17/10%｜B&amp;O 3.23/9%——既不够收入、又占用了资金。B&amp;O 直接开 7/8（30 局）也只有 13%。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§8 火车与爆车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首车时点：两条截然不同的曲线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first_c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2094" y="1444752"/>
            <a:ext cx="7347505" cy="316382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4809744"/>
            <a:ext cx="11057839" cy="731520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4809744"/>
            <a:ext cx="50292" cy="7315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4809744"/>
            <a:ext cx="1061892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「晚发公司」的完整定义：</a:t>
            </a:r>
            <a:r>
              <a:rPr sz="13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IC 有 96%、NYC 有 90% 的对局在 OR1.1 就出车；ERIE 与 C&amp;O 都过半要到 OR4 之后才第一次买车——那时 2 车早已爆掉，只能直接买 4/6 或 7/8。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669280"/>
            <a:ext cx="11057839" cy="512064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5669280"/>
            <a:ext cx="50292" cy="512064"/>
          </a:xfrm>
          <a:prstGeom prst="rect">
            <a:avLst/>
          </a:prstGeom>
          <a:solidFill>
            <a:srgbClr val="0B0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5669280"/>
            <a:ext cx="1061892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不是「发起得晚」，而是「发起后赶不上第一波 2 车」。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§8 火车与爆车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2 车的经济账：买 2 车从来不是浪费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ca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642" y="1554480"/>
            <a:ext cx="8426410" cy="28346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4590288"/>
            <a:ext cx="11057839" cy="841248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4590288"/>
            <a:ext cx="50292" cy="8412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4590288"/>
            <a:ext cx="10618927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每 $80 的 2 车平均挖回 $232–$360 的收益（2.9–4.5 倍），全线都 &gt; 1。B&amp;O 最高（4.5×），因为它的收益密集路线（辛辛那提）离起点近。NYC 开 3 台 2 车：胜率 32%（高于 2 台的 26%、0 台的 28%）。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559552"/>
            <a:ext cx="11057839" cy="658368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5559552"/>
            <a:ext cx="50292" cy="658368"/>
          </a:xfrm>
          <a:prstGeom prst="rect">
            <a:avLst/>
          </a:prstGeom>
          <a:solidFill>
            <a:srgbClr val="FAB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5559552"/>
            <a:ext cx="1061892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别照抄「2+2+2 均名次 2.27」——那是 TOP 打出来的。同样一套车，换个人开就是另一个结果。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§8 火车与爆车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爆车当口：全场最便宜的一个胜负开关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bomb_cas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2115" y="1536192"/>
            <a:ext cx="7387464" cy="24688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4169663"/>
            <a:ext cx="3551834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4169663"/>
            <a:ext cx="3551834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4389120"/>
            <a:ext cx="3186074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31%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爆车时金库 ≥$450 的胜率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n=793，均名次 2.28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9930" y="4169663"/>
            <a:ext cx="3551834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9930" y="4169663"/>
            <a:ext cx="3551834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2810" y="4389120"/>
            <a:ext cx="3186074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22%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金库 &lt;$450 的胜率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n=1580，均名次 2.69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72932" y="4169663"/>
            <a:ext cx="3551834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72932" y="4169663"/>
            <a:ext cx="3551834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5812" y="4389120"/>
            <a:ext cx="3186074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+9pp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把金库备到 $450 的收益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只要在 Phase III 之前攒够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5559552"/>
            <a:ext cx="11057839" cy="658368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5559552"/>
            <a:ext cx="50292" cy="65836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5559552"/>
            <a:ext cx="1061892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只有 IC 的爆车金库中位够买 4/6 车（54% 的场合够，中位缺口 −$40），其他公司只有 26–31%——这是土地拨赠的第二个价值。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§8 火车与爆车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强制购车与总裁垫钱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3551834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554480"/>
            <a:ext cx="3551834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73936"/>
            <a:ext cx="3186074" cy="1243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251 次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垫钱次数（665 局）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0.38 次／局，涉及 133 人，共 $53,877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9930" y="1554480"/>
            <a:ext cx="3551834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19930" y="1554480"/>
            <a:ext cx="3551834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2810" y="1773936"/>
            <a:ext cx="3186074" cy="1243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3.40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垫钱者均名次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全体基线 2.60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72932" y="1554480"/>
            <a:ext cx="3551834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72932" y="1554480"/>
            <a:ext cx="3551834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5812" y="1773936"/>
            <a:ext cx="3186074" cy="1243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7%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垫钱者胜率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获胜仅 18 次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66928" y="3401568"/>
          <a:ext cx="11057836" cy="12618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96931"/>
                <a:gridCol w="2853635"/>
                <a:gridCol w="2853635"/>
                <a:gridCol w="2853635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垫钱次数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场次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发生率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TOP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998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MID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78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946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BOT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D03B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15% ↑2.5 倍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566928" y="4736592"/>
            <a:ext cx="11057839" cy="822960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4736592"/>
            <a:ext cx="50292" cy="82296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736592"/>
            <a:ext cx="10618927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读法：</a:t>
            </a:r>
            <a:r>
              <a:rPr sz="13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垫钱是弱手的标志（BOT 发生率是 TOP 的 2.5 倍），且垫钱者结局很差。注意：TOP 玩家垫钱的绝对次数反而多（场次多，998 vs 185）——看发生率才有意义。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5614416"/>
            <a:ext cx="11057839" cy="512064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5614416"/>
            <a:ext cx="50292" cy="512064"/>
          </a:xfrm>
          <a:prstGeom prst="rect">
            <a:avLst/>
          </a:prstGeom>
          <a:solidFill>
            <a:srgbClr val="0CA3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5614416"/>
            <a:ext cx="10618927" cy="5120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破产 0 次——1846 没有破产机制（公司只会股价归零／关闭）。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§9 公司间倒车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99% 是自己卖给自己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主战场在 OR4–OR5（531/1010 = 53%），正是 Phase III→IV 的换车窗口；7/8 车被折价 80% 转手——晚发公司靠这个低价车源续命；3/5 车是全场唯一溢价转手的车（$160→$224），倒手是「抢救性转移」。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572768"/>
            <a:ext cx="3551834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572768"/>
            <a:ext cx="3551834" cy="5029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792224"/>
            <a:ext cx="3186074" cy="1042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1010 次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公司间购车总数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1.52 次／局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9930" y="1572768"/>
            <a:ext cx="3551834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9930" y="1572768"/>
            <a:ext cx="3551834" cy="5029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2810" y="1792224"/>
            <a:ext cx="3186074" cy="1042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99%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同一总裁的两家公司之间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1003 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72932" y="1572768"/>
            <a:ext cx="3551834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72932" y="1572768"/>
            <a:ext cx="3551834" cy="5029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5812" y="1792224"/>
            <a:ext cx="3186074" cy="10424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7 次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跨玩家交易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665 局里只发生过 7 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3108960"/>
            <a:ext cx="11057839" cy="566928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3108960"/>
            <a:ext cx="50292" cy="5669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3108960"/>
            <a:ext cx="106189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1846 不存在「公司间火车市场」。它只是一个总裁在自己两家公司之间搬资产的通道。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66928" y="3785615"/>
          <a:ext cx="11057836" cy="2153405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399726"/>
                <a:gridCol w="1399726"/>
                <a:gridCol w="1399726"/>
                <a:gridCol w="1819644"/>
                <a:gridCol w="2239562"/>
                <a:gridCol w="2799452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车型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次数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占比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票面价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均成交价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折让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306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$80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$24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−70%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4/6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274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$450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$308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−31%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116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$500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$371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−26%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3/5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99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$160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$224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0CA30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+40%（溢价） ↑唯一溢价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7/8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96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$900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$181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A78D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−80% ↑最便宜车源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62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$800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$280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−65%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57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$180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$178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−1%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§10 小公司转让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84–91% 都按标价上限付——为什么？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591056"/>
          <a:ext cx="11057836" cy="12893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73323"/>
                <a:gridCol w="1579691"/>
                <a:gridCol w="1579691"/>
                <a:gridCol w="1336661"/>
                <a:gridCol w="1215147"/>
                <a:gridCol w="2673323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小公司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标价上限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成交次数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均价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中位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付满标价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密歇根南方 MS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$60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635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$55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$60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84%（536/635）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Big 4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$40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630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$37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$40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89%（562/630）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C&amp;WI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$60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627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$57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$60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A78D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91%（568/627） ↑最高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3063239"/>
            <a:ext cx="41148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3035808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机制：小公司被公司收购时，钱付给「持有者」（玩家个人），不是银行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而买方公司通常由同一个总裁控制——于是「公司花钱买小公司」就等于「把公司金库的钱转进自己口袋」。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794760"/>
            <a:ext cx="41148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767328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因为公司金库的钱终局不计分、个人现金计分，所以这个转移是纯赚的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同一条逻辑也适用于公司间倒车：1846 的「公司间交易」整体上都是总裁在把公司资产变成个人资产。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66928" y="4443984"/>
          <a:ext cx="11057838" cy="11521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923749"/>
                <a:gridCol w="4637158"/>
                <a:gridCol w="2496931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小公司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卖方总裁 = 买方总裁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比例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密歇根南方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632/635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Big 4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621/630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99%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C&amp;WI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616/627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98%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66928" y="5687568"/>
            <a:ext cx="11057839" cy="621792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5687568"/>
            <a:ext cx="50292" cy="6217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5687568"/>
            <a:ext cx="10618927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公司关闭（股价归零）：IC 47 次最多，Big 4 31、MS 25；关闭公司的发起者均名次 2.47（基线 2.60）、胜率 23%——让一家公司死掉在 1846 里是可控的战术动作，不是灾难。关闭的公司里 93 次是 par $40。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10312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§11–§15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1089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公司与股份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913632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钱花在哪、什么时候花、以及七家公司各自的性格。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§11 分层差异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TOP / MID / BOT 差在哪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609344"/>
          <a:ext cx="11057834" cy="1371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85351"/>
                <a:gridCol w="985351"/>
                <a:gridCol w="1423286"/>
                <a:gridCol w="1313802"/>
                <a:gridCol w="1204319"/>
                <a:gridCol w="1204319"/>
                <a:gridCol w="985351"/>
                <a:gridCol w="1532769"/>
                <a:gridCol w="1423286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场次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均净资产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均分红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均买股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均卖股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卖/买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自家公司占比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均私营投入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TOP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998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A78D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$6628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$3613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1879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366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A78D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19% ↑最高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44.9%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$127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MID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946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$5764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$3145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1673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234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47.7%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$134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BOT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$5165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$2877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1652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169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D03B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51.1% ↑最集中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$139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3136391"/>
            <a:ext cx="41148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3108960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TOP 的净资产高 $1463（28%），差距主要来自分红（+$736，占一半）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不是买股赚差价，是持有高分红公司。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3867912"/>
            <a:ext cx="41148" cy="2743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840480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TOP 的买卖比最高（19%）——他们更愿意卖，不是死拿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4361688"/>
            <a:ext cx="41148" cy="2743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4334256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TOP 持有自家公司的比例最低（44.9% vs BOT 51.1%）——更分散；私营投入反而更少（$127 vs $139）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4855464"/>
            <a:ext cx="41148" cy="2743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4828032"/>
            <a:ext cx="1087495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⚠ BOT 的场次只有 185（TOP 998、MID 946）——BOT 组玩得少，样本天然薄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§12 股份安排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投向、时机、砸价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572768"/>
          <a:ext cx="11057835" cy="12618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259753"/>
                <a:gridCol w="1399726"/>
                <a:gridCol w="1399726"/>
                <a:gridCol w="1399726"/>
                <a:gridCol w="1399726"/>
                <a:gridCol w="1399726"/>
                <a:gridCol w="1399726"/>
                <a:gridCol w="1399726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IC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NYC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B&amp;O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GT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PRR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C&amp;O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ERIE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TOP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MID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BOT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D03B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D03B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18% ↓投入最弱两家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weak_b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8153" y="2999232"/>
            <a:ext cx="4655387" cy="175564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66928" y="4901183"/>
            <a:ext cx="11057839" cy="566928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4901183"/>
            <a:ext cx="50292" cy="5669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4901183"/>
            <a:ext cx="106189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TOP 的投向高度均衡（12–17%），没有明显超配；BOT 把 38% 的钱投向 C&amp;O + ERIE——这两家是全表最弱的公司。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577840"/>
            <a:ext cx="11057839" cy="731520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5577840"/>
            <a:ext cx="50292" cy="7315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5577840"/>
            <a:ext cx="1061892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SR4 是全场的主力加仓期（三组都把 25–30% 资金投在这里）；但 BOT 把 35.6% 的资金留到 SR5–SR6 才投（TOP 只有 20.5%）——那时只剩 1–2 个营运轮，来不及产生分红。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§12 股份安排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股票轮结束时的股价结算：谁砸的价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3551834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554480"/>
            <a:ext cx="3551834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773936"/>
            <a:ext cx="3186074" cy="1243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68%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的股票轮至少有一家因股池持股而跌价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共 3599 个股票轮</a:t>
            </a:r>
          </a:p>
        </p:txBody>
      </p:sp>
      <p:sp>
        <p:nvSpPr>
          <p:cNvPr id="9" name="Rectangle 8"/>
          <p:cNvSpPr/>
          <p:nvPr/>
        </p:nvSpPr>
        <p:spPr>
          <a:xfrm>
            <a:off x="4319930" y="1554480"/>
            <a:ext cx="3551834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19930" y="1554480"/>
            <a:ext cx="3551834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2810" y="1773936"/>
            <a:ext cx="3186074" cy="1243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57%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的跌价张数来自公司超发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6783 张；只有玩家卖出占 5191 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72932" y="1554480"/>
            <a:ext cx="3551834" cy="1572768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72932" y="1554480"/>
            <a:ext cx="3551834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5812" y="1773936"/>
            <a:ext cx="3186074" cy="12435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2.4×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TOP 的卖出频率是 BOT 的倍数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1.73 次／场 vs 0.71 次／场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66928" y="3401568"/>
          <a:ext cx="11057837" cy="1554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133996"/>
                <a:gridCol w="2369536"/>
                <a:gridCol w="3554305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情形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校正后残差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被砸（全部）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5242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+0.12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被别人砸的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4757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+0.10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总裁自己砸的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D03B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+0.30 ↑最坏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轮末涨价的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6065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0CA30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−0.09 ↑好事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566928" y="4937760"/>
            <a:ext cx="11057839" cy="731520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4937760"/>
            <a:ext cx="50292" cy="7315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4937760"/>
            <a:ext cx="1061892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公司超发（增发）是砸价的第一大来源——想砸别人的价，先看它有没有超发。IC 是唯一「涨远多于跌」的公司（2.01 vs 1.20）——买 IC 的股票是全场最稳的。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5760720"/>
            <a:ext cx="11057839" cy="548640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5760720"/>
            <a:ext cx="50292" cy="548640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5760720"/>
            <a:ext cx="10618927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「卖股」这个动作本身不构成优势——它只是在正确的时点做了正确的事，而这个时点选择已经被实力分捕捉了。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§12 股份安排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股份安排建议（数据版）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591056"/>
          <a:ext cx="11057838" cy="27432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488555"/>
                <a:gridCol w="4678316"/>
                <a:gridCol w="4890967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建议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数据支撑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SR1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抢 IC，其次 NYC / B&amp;O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IC 平均顺位 1.78；土地拨赠 3×par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SR2–SR3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持有 1–2 家他人高收益公司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TOP 的投向高度均衡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SR4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主力加仓期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三组都把 25–30% 资金投在此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SR5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以减持为主，尤其抛 ERIE / C&amp;O / PRR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这三家被卖金额的 49–57% 集中在 SR5–SR6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换仓时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卖完必须买，但别买进 C&amp;O / ERIE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TOP 换仓 65% 落在四大公司；BOT 38% 落在 C&amp;O+ERIE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始终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自家持股控制在 45% 左右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TOP 自家 44.9%，BOT 51.1%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5047488"/>
            <a:ext cx="11057839" cy="603504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047488"/>
            <a:ext cx="50292" cy="6035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5047488"/>
            <a:ext cx="1061892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换仓率 100%（三组都是）——「只卖不买」全库只有 8 次。卖出的钱基本都会重新投出去。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60720"/>
            <a:ext cx="11057839" cy="548640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5760720"/>
            <a:ext cx="50292" cy="548640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5760720"/>
            <a:ext cx="10618927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TOP 组是抛售主力：IC 被卖金额的 53%、NYC 的 51%、B&amp;O 的 47% 都出自 TOP 之手（因为他们持有最多）。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§13 公司定位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收益什么时候来：派息滞后与总收益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income_la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942" y="1517904"/>
            <a:ext cx="7855811" cy="270662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4389120"/>
            <a:ext cx="11057839" cy="566928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4389120"/>
            <a:ext cx="50292" cy="5669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4389120"/>
            <a:ext cx="106189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IC/NYC 是「早期公司」（派息滞后 3.66/3.68 轮）——买它们越早越值。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047488"/>
            <a:ext cx="11057839" cy="658368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5047488"/>
            <a:ext cx="50292" cy="65836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5047488"/>
            <a:ext cx="1061892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ERIE/C&amp;O 是「晚期公司」（派息滞后 4.3 轮、OR5+ 占比 54%）——它们的大部分收益在你已经来不及变现的时候才出现。别在 SR1 开它们。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5779008"/>
            <a:ext cx="11057839" cy="530352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5779008"/>
            <a:ext cx="50292" cy="530352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5779008"/>
            <a:ext cx="10618927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总收益量级差 3.5 倍（IC $270 万 vs ERIE $76 万）——这是「公司强弱」的最直接度量。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§13 公司定位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皮包公司 与 分红政策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609344"/>
          <a:ext cx="11057837" cy="224942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457297"/>
                <a:gridCol w="3276396"/>
                <a:gridCol w="2866847"/>
                <a:gridCol w="2457297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公司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发起局数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从未跑车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占比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IC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664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A78D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7% ↑最高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NYC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661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B&amp;O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658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GT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633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ERIE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385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C&amp;O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418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PRR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440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4041648"/>
            <a:ext cx="11057839" cy="786384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4041648"/>
            <a:ext cx="50292" cy="78638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4041648"/>
            <a:ext cx="10618927" cy="7863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IC 的「皮包率」最高（7%）——与它的土地拨赠机制有关：拿 $240 的拨赠金、不跑车、把钱转给主力公司。这正是「TOP3 避开 IC」的第二种解释的数据支撑。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4983480"/>
            <a:ext cx="41148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4956048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各组的分红政策几乎一样（68% 全分红）——分红策略不区分水平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TOP 总决策 15277（全分红 68%／留存 20%／半分 12%）；MID 14313（67/22/11）；BOT 2818（68/22/9）。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5715000"/>
            <a:ext cx="41148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5687568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阶段 I 的差异最大（TOP 1% vs MID 12%）但样本少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阶段 II–IV 各组趋同：II 约 66–73% 分红，IV 约 76–81%。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§14 发起决策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发起几家、什么时候发起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591056"/>
          <a:ext cx="11057838" cy="11795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13671"/>
                <a:gridCol w="2010516"/>
                <a:gridCol w="2412619"/>
                <a:gridCol w="2010516"/>
                <a:gridCol w="2010516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发起家数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次数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均名次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胜率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 par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家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1649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2.54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0CA30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26% ↑最好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84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家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1862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2.65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106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家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336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3.04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D03B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14% ↓最差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108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798064"/>
          <a:ext cx="11057834" cy="14630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66907"/>
                <a:gridCol w="1436082"/>
                <a:gridCol w="1436082"/>
                <a:gridCol w="1723299"/>
                <a:gridCol w="1436082"/>
                <a:gridCol w="3159382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发起时点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次数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 par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均名次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胜率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该公司全场收益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SR1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2803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81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2.57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0CA30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$4031 ↑4 倍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SR2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52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92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3.31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$3112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SR3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192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127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2.68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$2297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SR4+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812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144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2.80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D03B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$1077 ↓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66928" y="4425696"/>
            <a:ext cx="11057839" cy="694944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4425696"/>
            <a:ext cx="50292" cy="69494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4425696"/>
            <a:ext cx="10618927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为什么？</a:t>
            </a:r>
            <a:r>
              <a:rPr sz="13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多开公司会摊薄你在每一家公司的持股比例，且第二三家资金不足——1846 不是「多开公司」的游戏，而是「深耕一家」的游戏（与 1862 恰好相反）。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212080"/>
            <a:ext cx="11057839" cy="566928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5212080"/>
            <a:ext cx="50292" cy="566928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5212080"/>
            <a:ext cx="106189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TOP 在 SR1 发起公司的胜率高达 38%（MID 17%、BOT 3%）——这是全场最大的单一项组间差距。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5870448"/>
            <a:ext cx="11057839" cy="438912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5870448"/>
            <a:ext cx="50292" cy="438912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5870448"/>
            <a:ext cx="10618927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PRR 是全表唯一「后发更好」的公司（SR1 3.07 vs 后发 2.85）。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§15 公司画像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七家公司全流程总表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645920"/>
          <a:ext cx="11057835" cy="30175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87307"/>
                <a:gridCol w="888576"/>
                <a:gridCol w="888576"/>
                <a:gridCol w="1184768"/>
                <a:gridCol w="987307"/>
                <a:gridCol w="1086037"/>
                <a:gridCol w="1283499"/>
                <a:gridCol w="1382229"/>
                <a:gridCol w="1283499"/>
                <a:gridCol w="1086037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公司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出场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 par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均总分红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均跑车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中位终价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发起者残差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2车收益/成本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爆车够钱率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派息滞后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IC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664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A78D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$3618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21.4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375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A78D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−0.042 ↑最好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3.4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3.66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NYC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661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87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$3372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20.3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320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−0.013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3.6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3.68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B&amp;O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658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89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$3118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18.6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295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+0.022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0CA30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4.5 ↑最高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3.72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GT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633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91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$3032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17.3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295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+0.029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3.5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29%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3.77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PRR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440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$2476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13.3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D03B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+0.070 ↓最差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3.95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ERIE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385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121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$1789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8.7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212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+0.042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2.9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4.33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C&amp;O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418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124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$1731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8.5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212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+0.045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3.8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4.31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5285232"/>
            <a:ext cx="11057839" cy="621792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5285232"/>
            <a:ext cx="50292" cy="6217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5285232"/>
            <a:ext cx="10618927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IC 是双第一（分红 $3618 / 终价 $375）＋最短派息滞后（3.66 轮）；C&amp;O 分红与终价双双垫底（$1731 / $212）。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§15 公司画像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七家公司的「性格」一句话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609344"/>
          <a:ext cx="11057838" cy="314553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05258"/>
                <a:gridCol w="6634703"/>
                <a:gridCol w="3417877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公司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一句话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该在什么时候开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IC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全作最强，白拿钱，路网四通八达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SR1 第一个抢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NYC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最稳的次优，主场最快（克利夫兰 389% / 1.2 回合）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SR1（拿不到 IC 就它）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B&amp;O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车之王，收益密集度最高（4.5×）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SR1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GT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站最少（3 枚）的抢格者，结构性矛盾最突出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SR1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PRR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站最多（5 枚），但全表唯一该后发的公司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SR3+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ERIE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晚期公司，连自己的主场都跑不动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SR3+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C&amp;O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晚期公司，且够不到托莱多（覆盖率仅 89%）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SR3+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4828032"/>
            <a:ext cx="11057839" cy="841248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4828032"/>
            <a:ext cx="50292" cy="84124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4828032"/>
            <a:ext cx="10618927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出场率的含义：</a:t>
            </a:r>
            <a:r>
              <a:rPr sz="13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每局平均只发起 5.80 家——IC/NYC/B&amp;O/GT 几乎必出（95–100%），PRR/C&amp;O/ERIE 有 34–42% 的局根本没出现。当它们真的被开出来时，往往是因为「好的四家都被抢完了」。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797296"/>
            <a:ext cx="11057839" cy="530352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5797296"/>
            <a:ext cx="50292" cy="530352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5797296"/>
            <a:ext cx="10618927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这才是它们成绩差的真正原因——不是因为公司本身差，而是因为开它们的人已经处于劣势局面。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§15 公司画像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【核心】公司强弱 ≠ 发起者结局——方向与 1830 相反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627632"/>
          <a:ext cx="11057837" cy="26334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48757"/>
                <a:gridCol w="4054540"/>
                <a:gridCol w="4054540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公司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公司分红排名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发起者残差排名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IC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NYC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B&amp;O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GT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ERIE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C&amp;O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PRR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D03B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 ←唯一例外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4416552"/>
            <a:ext cx="41148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4389120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1830 的教训是「公司越强，抢的人越多，发起成本越高，发起者结局反而差」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1846 的数据显示相反：公司强弱与发起者结局几乎完全一致（只有 PRR 例外）。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5148072"/>
            <a:ext cx="41148" cy="74980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5120640"/>
            <a:ext cx="10874959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为什么不同？因为 1846 的「发起成本」很低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par 中位只有 $80–90，而且是注资进公司、不是付给银行——你为一家强公司多付的钱，最终还在自己公司的金库里。1830 里买强公司要真金白银付给银行，1846 里不用。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10312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§16–§19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1089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打法与专题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913632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把「该做什么、不该做什么」拆成可执行的清单。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§16 打法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TOP 最爱用的打法 vs 胜率最低的打法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口径：把每个「行为」的做者与未做者各算一遍水平校正后的残差，两者之差 = 净效应（负 = 好）。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847088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CA30C"/>
                </a:solidFill>
                <a:latin typeface="Microsoft YaHei"/>
                <a:ea typeface="Microsoft YaHei"/>
                <a:cs typeface="Microsoft YaHei"/>
              </a:rPr>
              <a:t>净效应最好的打法（该做）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2157984"/>
          <a:ext cx="11057836" cy="11795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472833"/>
                <a:gridCol w="1118208"/>
                <a:gridCol w="1118208"/>
                <a:gridCol w="1490944"/>
                <a:gridCol w="1366699"/>
                <a:gridCol w="1490944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行为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占比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做者残差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未做者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净效应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SR1 抢到 IC/NYC/B&amp;O/GT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2392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87%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−0.03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+0.23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0CA30C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−0.27 ↑最好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一局只发起 1 家公司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1649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60%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−0.07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+0.10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−0.17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28346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开局 3+ 台 2 车（纯 2 车）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534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−0.01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+0.00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−0.02*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3529584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03B3B"/>
                </a:solidFill>
                <a:latin typeface="Microsoft YaHei"/>
                <a:ea typeface="Microsoft YaHei"/>
                <a:cs typeface="Microsoft YaHei"/>
              </a:rPr>
              <a:t>净效应最差的打法（该避）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3840480"/>
          <a:ext cx="11057836" cy="17236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472833"/>
                <a:gridCol w="1118208"/>
                <a:gridCol w="1118208"/>
                <a:gridCol w="1490944"/>
                <a:gridCol w="1366699"/>
                <a:gridCol w="1490944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行为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占比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做者残差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未做者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净效应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一局发起 ≥3 家公司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+0.46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−0.02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D03B3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+0.49 ↓最差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SR1 抢 PRR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255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+0.26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−0.03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+0.29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某公司首车含 7/8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386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14%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+0.22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−0.04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+0.26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发起 $150 的公司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755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+0.18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−0.07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+0.25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278892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发起 ERIE 或 C&amp;O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763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+0.18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−0.07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+0.25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66928" y="5687568"/>
            <a:ext cx="11057839" cy="603504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5687568"/>
            <a:ext cx="50292" cy="603504"/>
          </a:xfrm>
          <a:prstGeom prst="rect">
            <a:avLst/>
          </a:prstGeom>
          <a:solidFill>
            <a:srgbClr val="FAB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5687568"/>
            <a:ext cx="1061892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「开局 3+ 台 2 车」的做者均 BT 高达 1675（全体 1604）——强手自我选择，账面净效应被拉平；而「SR1 抢 PRR」的做者 BT 只有 1529，是弱手自我选择。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§17 专题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公司爆破：IC 爆破及其变体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600200"/>
            <a:ext cx="41148" cy="74980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572768"/>
            <a:ext cx="10874959" cy="8046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用 $40 的低价公司把银行的注资与自己的现金变成火车，再把火车以 $1 转给第二家公司，让空壳死掉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流程（以 1846-065 为例）：SR1 以 $40 发起 IC → 买满股（金库 $280）→ 主席卖出砸价 → OR1.1 金库 $240 全买 2 车 → 以 $1／台转给 ERIE ×3 → OR1.2 IC 不跑车、股价归零关闭 → 第二家公司接手 3 台车。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615184"/>
            <a:ext cx="3551834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2615184"/>
            <a:ext cx="3551834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834639"/>
            <a:ext cx="318607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141 例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SR1 以 $40 发起的公司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其中 93 例最终关闭（=爆破）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19930" y="2615184"/>
            <a:ext cx="3551834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9930" y="2615184"/>
            <a:ext cx="3551834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2810" y="2834639"/>
            <a:ext cx="318607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2.50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发起者均名次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全体基线 2.54——几乎持平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72932" y="2615184"/>
            <a:ext cx="3551834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72932" y="2615184"/>
            <a:ext cx="3551834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5812" y="2834639"/>
            <a:ext cx="3186074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8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1637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发起者均 BT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高于全体 1604——强手的选择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4059936"/>
            <a:ext cx="11057839" cy="694944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4059936"/>
            <a:ext cx="50292" cy="69494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4059936"/>
            <a:ext cx="10618927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修正：</a:t>
            </a:r>
            <a:r>
              <a:rPr sz="12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TOP 组做了 69 例，BOT 只做了 6 例——强手爱用，弱手不用。它是强手在有条件时榨取残值的工具，不是「稳赚」的套路。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4864608"/>
            <a:ext cx="11057839" cy="658368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4864608"/>
            <a:ext cx="50292" cy="658368"/>
          </a:xfrm>
          <a:prstGeom prst="rect">
            <a:avLst/>
          </a:prstGeom>
          <a:solidFill>
            <a:srgbClr val="8987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4864608"/>
            <a:ext cx="1061892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共 580 次「低于票面 35%」的贱卖：2 车均成交价 $1（票面 $80）；前 6 组合里 IC 占 4 个（IC→ERIE 64 次最多），其中 86% 是同总裁。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5632704"/>
            <a:ext cx="11057839" cy="694944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5632704"/>
            <a:ext cx="50292" cy="694944"/>
          </a:xfrm>
          <a:prstGeom prst="rect">
            <a:avLst/>
          </a:prstGeom>
          <a:solidFill>
            <a:srgbClr val="FAB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5632704"/>
            <a:ext cx="10618927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风险：① 需要在 SR1 有足够现金双开；② 第二家公司没抢到，车就白扔了；③ 烧掉了外部股东；④ 新数据显示它的期望收益只是「持平」——做得不好就是纯粹自损。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§18 专题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开局四个营运轮：高收入档做对了什么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" name="Picture 5" descr="win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976" y="1517904"/>
            <a:ext cx="7289742" cy="24688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66928" y="4151376"/>
            <a:ext cx="3551834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4151376"/>
            <a:ext cx="3551834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4370832"/>
            <a:ext cx="3186074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$1032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高收入档窗口总收入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931 家 · 均名次 2.10 · 胜率 38%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19930" y="4151376"/>
            <a:ext cx="3551834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19930" y="4151376"/>
            <a:ext cx="3551834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2810" y="4370832"/>
            <a:ext cx="3186074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$790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全体中位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三分位 $680 / $890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72932" y="4151376"/>
            <a:ext cx="3551834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72932" y="4151376"/>
            <a:ext cx="3551834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5812" y="4370832"/>
            <a:ext cx="3186074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$457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低收入档窗口总收入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985 家 · 均名次 3.07 · 胜率 13%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5541264"/>
            <a:ext cx="11057839" cy="658368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5541264"/>
            <a:ext cx="50292" cy="65836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5541264"/>
            <a:ext cx="10618927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注意 OR1.1 的收入恒为 0——因为买车在跑车步骤之后，第一轮谁都跑不了。差距从 OR1.2 就拉开，且逐轮放大（226→355→451 vs 103→145→209）。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§18 专题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高收入档的共性操作（2854 家公司）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627632"/>
          <a:ext cx="11057838" cy="20574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655932"/>
                <a:gridCol w="2327966"/>
                <a:gridCol w="2327966"/>
                <a:gridCol w="1745974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高收入档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低收入档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差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铺轨块数（窗口内）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6.30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5.15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+1.15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放站数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1.44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1.08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+0.36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购车台数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3.52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2.40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+1.12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购车花费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2A78D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$546 ↑最强区分项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$323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+69%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初始股价 par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$85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$76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+$9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超发次数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1.32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1.03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+0.29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66928" y="3867912"/>
            <a:ext cx="41148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3840480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首块轨道落点：高档更常开局就直接扑向枢纽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高档 J4×170、E19×160、H12 辛辛那提×109、G11×83、G19 惠灵×67；低档 J4×224、E19×139、B16 休伦港×73、H12×70。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4599432"/>
            <a:ext cx="41148" cy="5120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4572000"/>
            <a:ext cx="1087495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5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首台车：低档开局买贵车的比例高一倍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高档 2 车×756（81%）、3/5×109、4×66；低档 2 车×731、3/5×150、4×97。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5705856"/>
            <a:ext cx="11057839" cy="603504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5705856"/>
            <a:ext cx="50292" cy="603504"/>
          </a:xfrm>
          <a:prstGeom prst="rect">
            <a:avLst/>
          </a:prstGeom>
          <a:solidFill>
            <a:srgbClr val="FAB2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5705856"/>
            <a:ext cx="10618927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⚠ BOT 组放的车站反而最多（1.57 vs TOP 1.19）——但收入最低。放站多不等于放对地方；par 几乎不区分水平（85/81/81/82），怎么花才是分野。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§19 速查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可执行结论速查（1／2）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591056"/>
          <a:ext cx="11057838" cy="47183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22483"/>
                <a:gridCol w="10235355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篇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结论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发起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SR1 优先 IC（顺位 1.78、白拿土地拨赠、同价位下比别家好 0.27–0.49 个名次）；拿不到就 NYC / B&amp;O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发起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par 定 $80–$90；IC 也定 $80–$90（金库 = 3×par，$80 正好 3 台 2 车）。非 IC 永远不要定 $40——除非你是有意爆破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发起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一局最多开 2 家公司；开 3 家均名次 3.04、胜率 14%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发起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要开后发公司就接受它是彩票：SR4+ 发起的公司全场收益只有 $1077（SR1 是 $4031）——除非是 NYC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发起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⚠ PRR 不要 SR1 开——它是全表唯一「后发更好」的公司（3.07 → 2.85）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车辆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首车用 2 车组合开局：B&amp;O 买 2–3 台（2+2+2 → 2.27/36%）｜IC 买 2 台（2+2 → 2.28/30%）｜NYC 买 2–3 台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车辆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中期务必掺一台 3/5：NYC 2+2+3/5 → 1.80/50%｜IC 2+2+4 → 1.75/54%｜IC 2+2+3/5 → 1.88/50%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车辆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不要只买一台 2 车：NYC 3.17/10%、B&amp;O 3.23/9%（全场最差开局）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车辆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Phase III 前把金库备到 $450——胜率从 22% 提到 31%，是全场最便宜的胜负开关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车辆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别指望买别人的车（665 局跨玩家交易只有 7 次）；但自己两家公司之间可在 OR4–OR5 用 $181 捡到 7/8 车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股票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SR1–SR3 建仓，SR4 主力加仓（~30%），SR5 起减持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股票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换仓只换进 IC / GT / B&amp;O / NYC；ERIE 与 C&amp;O 是末期清仓票（57% / 56% 的抛售集中在 SR5–SR6）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§19 速查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可执行结论速查（2／2）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591056"/>
          <a:ext cx="11057838" cy="47183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22483"/>
                <a:gridCol w="10235355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篇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结论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股票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自家持股 45% 左右即可（TOP 44.9%，BOT 51.1%）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股票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想砸别人的价，看它有没有超发——57% 的跌价是公司自己印股票造成的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车站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IC 往托莱多方向打（落站者 1.99/37%，比不落站好 0.56 个名次），别挤芝加哥（2.44，反而低于不挤的 2.20）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车站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NYC 抢克利夫兰、B&amp;O 抢辛辛那提、GT 抢芝加哥（都把结局拉高 0.15–0.32 个名次）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车站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B&amp;O 的辛辛那提特权即使 $100 也要用（66% 的局都用了）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顺位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不要为了抢 OR1.1 先手压低 par——早动一轮残差 −0.03，没有价值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顺位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SR1 末位出手有真实劣势（残差 +0.40），因为好公司被挑走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顺位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优先牌只有一个正确用法：拿 IC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开局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开局就往枢纽扑，不是先修缮自家院子：高收入档的首块轨更常落在辛辛那提／惠灵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开局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开局敢花钱：高收入档窗口内花 $546 买车（低档 $323），这是最强的单一区分项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开局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⚠ BOT 放站最多但收入最低——放站多不等于放对地方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特殊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$40 爆破：低 par 发起 → 买满股 → 公司买火车 → $1 转给自家第二家公司 → 让它死。141 例均名次 2.50（与基线持平），做的人 BT 更高（1637）——是强手榨取残值的工具，不是稳赚的套路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210312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§20–§21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31089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方法与风格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913632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先讲清这份报告哪里不可信，再看人。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§20 方法与局限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数据管线与六条局限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572768"/>
          <a:ext cx="11057838" cy="16459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27741"/>
                <a:gridCol w="9230097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环节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工具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切分·查重·编号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split_1846_cases.py（自动识别三种文件形式，非 1846 自动跳过，sha1 去重）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事件流重建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extract_1846.py（复用 parse_1846_log.py 的记账状态机，只旁听不改动）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实力分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rating2_1846.py（前二制）＋ rating_1846.py（完整名次 BT，并列）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专题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combo / rust / phase3 / train / stock / drop / money / founding / misc / corp_profile / order / bomb / earlyor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3310128"/>
            <a:ext cx="1105783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D03B3B"/>
                </a:solidFill>
                <a:latin typeface="Microsoft YaHei"/>
                <a:ea typeface="Microsoft YaHei"/>
                <a:cs typeface="Microsoft YaHei"/>
              </a:rPr>
              <a:t>六条局限（务必注意）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3621024"/>
          <a:ext cx="11057838" cy="263347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56935"/>
                <a:gridCol w="2924387"/>
                <a:gridCol w="7676516"/>
              </a:tblGrid>
              <a:tr h="329184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#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局限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说明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①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相关 ≠ 因果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「GT 在底特律放站者结局更差」更可能是被抢通道的被动反应，而非放站导致失败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②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分层仍有残余循环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实力分本身也是从结果（名次）推出来的——残差不等于因果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③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「公司 × 玩家」高度纠缠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强手更爱抢 IC、弱手更爱抢 PRR，选择效应仍然存在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④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小样本格子只作参考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n&lt;20 的组合（部分首车组合、爆破子样本）不作结论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⑤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局型不齐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人局 62 局、5 人局 142 局；公司层面统计未按人数分层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⑥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手动结束 32 局（4.8%）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终局时点由玩家决定，已保留在主样本（其结算仍是官方的）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65760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A78D6"/>
                </a:solidFill>
                <a:latin typeface="Microsoft YaHei"/>
                <a:ea typeface="Microsoft YaHei"/>
                <a:cs typeface="Microsoft YaHei"/>
              </a:rPr>
              <a:t>§21 玩家风格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1057839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高样本四人：差别在「少花、多买、不留存」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33856"/>
            <a:ext cx="841248" cy="50292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1105783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⚠ 样本量决定了怎么读：高样本四人（89–170 局）区间窄，习惯可当稳定解参考。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792224"/>
          <a:ext cx="11057837" cy="186537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93290"/>
                <a:gridCol w="639709"/>
                <a:gridCol w="822483"/>
                <a:gridCol w="7402355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玩家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局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RR 分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一句话画像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玩家16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1775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私营党（$162 + par $100），SR1 少买股，SR4 一次大加仓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玩家12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162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1818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Mail Contract 党（25%），B&amp;O/IC 双主力，全场最活跃的卖出者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玩家9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114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1850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Big 4 党，B&amp;O/GT 专攻，避开 NYC，买车最多（6.01 台）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玩家6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89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1862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最不挑食——七大公司都开，包括别人避开的 PRR/ERIE，末期不追高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3749039"/>
          <a:ext cx="11057838" cy="189280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94486"/>
                <a:gridCol w="2948757"/>
                <a:gridCol w="4914595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维度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TOP3（15–34 局）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高样本四人（89–170 局）</a:t>
                      </a:r>
                    </a:p>
                  </a:txBody>
                  <a:tcPr marL="64008" marR="64008" marT="13716" marB="13716" anchor="ctr">
                    <a:solidFill>
                      <a:srgbClr val="0B0B0B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SR1 私营总投入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$97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$128–162（多花 24–40%）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SR1 买股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4.03 股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2.82–3.75 股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OR1 留存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0.01 次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0.03–0.15 次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SR5 净买入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+0.97 股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+1.18–1.96 股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终局资产（中位）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$6856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$6458–6528</a:t>
                      </a:r>
                    </a:p>
                  </a:txBody>
                  <a:tcPr marL="64008" marR="64008" marT="13716" marB="13716" anchor="ctr">
                    <a:solidFill>
                      <a:srgbClr val="FFFFFF"/>
                    </a:solidFill>
                  </a:tcPr>
                </a:tc>
              </a:tr>
              <a:tr h="260603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50" b="1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分红收入占比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54%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50" b="0" i="0">
                          <a:solidFill>
                            <a:srgbClr val="5251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54%（完全一样）</a:t>
                      </a:r>
                    </a:p>
                  </a:txBody>
                  <a:tcPr marL="64008" marR="64008" marT="13716" marB="13716" anchor="ctr">
                    <a:solidFill>
                      <a:srgbClr val="F2F1E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66928" y="5742432"/>
            <a:ext cx="11057839" cy="566928"/>
          </a:xfrm>
          <a:prstGeom prst="rect">
            <a:avLst/>
          </a:prstGeom>
          <a:solidFill>
            <a:srgbClr val="F2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5742432"/>
            <a:ext cx="50292" cy="566928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5742432"/>
            <a:ext cx="106189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分红收入占比完全相同（54%）——所有人都靠分红，不是靠买卖差价；终局资产只差 5–6%，真正拉开差距的是开局四轮的收入（高/低档差 2.3 倍）。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428232"/>
            <a:ext cx="6634703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数据：18xx.games ｜ 分析：Pig9013 ｜ 模型：Deepseek-flash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1631" y="6428232"/>
            <a:ext cx="442313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1846 深度分析（672 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310128"/>
            <a:ext cx="1463040" cy="5486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584448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52514E"/>
                </a:solidFill>
                <a:latin typeface="Microsoft YaHei"/>
                <a:ea typeface="Microsoft YaHei"/>
                <a:cs typeface="Microsoft YaHei"/>
              </a:rPr>
              <a:t>分析人：Pig9013 ｜ 使用模型：Deepseek-flash ｜ 整理日期：2026-09-17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0B0B0B"/>
                </a:solidFill>
                <a:latin typeface="Microsoft YaHei"/>
                <a:ea typeface="Microsoft YaHei"/>
                <a:cs typeface="Microsoft YaHei"/>
              </a:rPr>
              <a:t>致谢：全部对局数据来自 18xx.games 及在该网站上游玩的玩家们——是他们无偿公开的游玩记录，造就了这些分析。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157216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98781"/>
                </a:solidFill>
                <a:latin typeface="Microsoft YaHei"/>
                <a:ea typeface="Microsoft YaHei"/>
                <a:cs typeface="Microsoft YaHei"/>
              </a:rPr>
              <a:t>完整报告：复盘分析/1846/1846深度分析（672局）.md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